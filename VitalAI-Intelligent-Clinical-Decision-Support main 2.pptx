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6" r:id="rId3"/>
    <p:sldId id="257" r:id="rId4"/>
    <p:sldId id="267" r:id="rId5"/>
    <p:sldId id="258" r:id="rId6"/>
    <p:sldId id="268" r:id="rId7"/>
    <p:sldId id="259" r:id="rId8"/>
    <p:sldId id="269" r:id="rId9"/>
    <p:sldId id="260" r:id="rId10"/>
    <p:sldId id="270" r:id="rId11"/>
    <p:sldId id="271" r:id="rId12"/>
    <p:sldId id="272" r:id="rId13"/>
    <p:sldId id="273" r:id="rId14"/>
    <p:sldId id="274" r:id="rId15"/>
    <p:sldId id="261" r:id="rId16"/>
    <p:sldId id="279" r:id="rId17"/>
    <p:sldId id="262" r:id="rId18"/>
    <p:sldId id="264" r:id="rId19"/>
    <p:sldId id="277" r:id="rId20"/>
    <p:sldId id="278" r:id="rId21"/>
    <p:sldId id="275" r:id="rId22"/>
    <p:sldId id="265" r:id="rId23"/>
  </p:sldIdLst>
  <p:sldSz cx="14630400" cy="8229600"/>
  <p:notesSz cx="8229600" cy="14630400"/>
  <p:embeddedFontLst>
    <p:embeddedFont>
      <p:font typeface="Inter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2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94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42" d="100"/>
          <a:sy n="42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512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0149D-1603-040C-F564-9B96E593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637DD-CBC5-FFBD-861A-0E8F2D53C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0096B-CC6E-BBDF-6B13-6321B06A5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277F0-92FD-1B0F-99AB-5A08C80B9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64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52434-6320-C30D-FCF5-86F7BE993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7C057-C1AB-7FFD-FEBE-AD75B9784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A95CC-1EA1-E7CE-9B8A-03FDF7618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0504C-5AB3-98A2-B71E-AD248806BE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76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92D7E-E47E-528B-4A42-656614EBF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CA1F4-CCC8-995A-BD07-F054B9CB5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8644E-4BC0-C15A-7A96-094530ADD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AB3AB-2A2F-2489-9B99-1B174D36A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59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87C40-94D4-BD9D-F0B0-12D9EEB1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E0FF4-203B-0A50-88AE-4ACAEF232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DBF98-7F0E-B7C0-7DD2-26A3E7B32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F3426-6ED2-B7DA-E404-A39B76592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86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24141-B450-5D3C-C4EC-5F3B77EBA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0328C-AB3D-C98A-DCFB-E4054D357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5D748-C146-BA19-2052-89F829530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54AFC-33B3-8F98-8779-477B0B4D6C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52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362CC-307C-1573-9392-607F52C0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7D5D1-93B7-128C-451B-F7B9E4E7C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C03389-1556-3D80-F52F-2CE9164AB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4CD3D-6CF4-42D7-65D8-40A2E3ACCE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13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A9311-421F-1493-5B8F-200F1170E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DA913-BC22-39D6-2BEF-8BDA6BB87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64C0A-6B67-4AC2-EA12-00786D052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D5A9A-E321-7E8F-529F-744BD6E58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587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E164-EE43-CC99-777B-A567A2DEE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8CF59-3E0B-06DD-111D-2C758102F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2414E-0442-BF95-50A0-73297CF72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B2DB8-619D-DB42-1ADC-8296753DD3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74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C65DE-05AA-71E8-5E1B-818D106B8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8A3A0-6C71-0BDC-C201-33A27BF5A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2DE57-0288-8055-517A-32D709A90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E40B5-A967-2921-35BC-F5D7C49457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38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A2DE2-25AF-8FE9-80AF-41DE3CCC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8089E-3810-39BE-17A8-E5CB070BC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7F804-2C64-6651-4405-4BC20A86F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52950-7FB6-1401-5CDC-C31A7BAF5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526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4F22D-31EB-96FE-497E-3562B7E23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8F2DF-6976-241A-A5F0-766834240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C37A2-1F14-BDDD-F07C-855B1CB6C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BADE2-E7D0-FE2C-C6E9-D3DE8F7A3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945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3BCF4-4AA0-F943-E187-90A3F4EB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12698-D780-6989-2217-8D8E5D389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F392A-D5E0-E5AA-2340-DE3415C39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3E687-A0D3-FC71-7087-C76B97F855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186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EF389-C4AC-DCE5-1955-D4F3255D2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5AB96-5972-A8B8-CE09-D63C85EC6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A4C4D-CD25-3CDE-1A92-8DDF23B1C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498BD-F6FC-0CF7-ADA6-686595FE84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434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1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250" y="-1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" y="7011948"/>
            <a:ext cx="1717040" cy="1217651"/>
          </a:xfrm>
          <a:prstGeom prst="rect">
            <a:avLst/>
          </a:prstGeom>
          <a:solidFill>
            <a:srgbClr val="0C0524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-13133858" y="7705785"/>
            <a:ext cx="1238083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Vital.AI: Intelligent Clinical Decision Support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-13464853" y="902177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Vital.AI transforms complex patient data into rapid, actionable diagnostic insights, empowering medical professionals to make faster, more accurate clinical decisions.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-13795846" y="103808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Team: Code-Crackers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762">
        <p159:morph option="byObject"/>
      </p:transition>
    </mc:Choice>
    <mc:Fallback xmlns="">
      <p:transition spd="slow" advTm="10762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43C2-8838-0D7C-8B57-3679AD82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8083C20-3EAE-258A-E470-05BD88822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70193EE5-B993-D893-3E4E-E2C951CEE6E4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F0AA96D-F758-6337-8867-8B6104EAF590}"/>
              </a:ext>
            </a:extLst>
          </p:cNvPr>
          <p:cNvSpPr/>
          <p:nvPr/>
        </p:nvSpPr>
        <p:spPr>
          <a:xfrm>
            <a:off x="793790" y="2591633"/>
            <a:ext cx="1238083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Vital.AI: Intelligent Clinical Decision Support</a:t>
            </a:r>
            <a:endParaRPr lang="en-US" sz="46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DE89626-5EDE-D2CC-34EE-59E5D6CDEA12}"/>
              </a:ext>
            </a:extLst>
          </p:cNvPr>
          <p:cNvSpPr/>
          <p:nvPr/>
        </p:nvSpPr>
        <p:spPr>
          <a:xfrm>
            <a:off x="793790" y="36760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Vital.AI transforms complex patient data into rapid, actionable diagnostic insights, empowering medical professionals to make faster, more accurate clinical decisions.</a:t>
            </a:r>
            <a:endParaRPr lang="en-US" sz="1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821B5F6-72E1-A53F-3722-1CC1AB853460}"/>
              </a:ext>
            </a:extLst>
          </p:cNvPr>
          <p:cNvSpPr/>
          <p:nvPr/>
        </p:nvSpPr>
        <p:spPr>
          <a:xfrm>
            <a:off x="793790" y="465701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Team: Code-Crackers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14897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1491">
        <p159:morph option="byObject"/>
      </p:transition>
    </mc:Choice>
    <mc:Fallback xmlns="">
      <p:transition spd="slow" advTm="2149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6162"/>
            <a:ext cx="8759666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Problem: Diagnostic Bottleneck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394103"/>
            <a:ext cx="4597479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High Cost of Manual Diagnosis</a:t>
            </a:r>
            <a:endParaRPr lang="en-US" sz="2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01170" y="1883926"/>
            <a:ext cx="90726" cy="907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-4126405" y="1808798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review of patient data is slow and error-prone.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762" y="-760928"/>
            <a:ext cx="90726" cy="90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58858" y="-780693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in 10 diagnoses are incorrect, impacting patient care.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6688" y="1230868"/>
            <a:ext cx="90726" cy="907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718949" y="1394103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diagnosis is deadly, especially for time-sensitive conditions like cancer.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-2749522" y="4637327"/>
            <a:ext cx="1825969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PaperworkManual forms and patient files pile up</a:t>
            </a:r>
            <a:endParaRPr lang="en-US" sz="1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836537" y="3480417"/>
            <a:ext cx="404447" cy="40444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578975" y="9519041"/>
            <a:ext cx="1836002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ReportsSlow results and fragmented data</a:t>
            </a:r>
            <a:endParaRPr lang="en-US" sz="10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92529" y="8462302"/>
            <a:ext cx="404447" cy="40444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5315694" y="4599473"/>
            <a:ext cx="1825969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 ReviewTime-consuming manual interpretation</a:t>
            </a:r>
            <a:endParaRPr lang="en-US" sz="10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24231" y="3225681"/>
            <a:ext cx="404448" cy="404447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4008186" y="8664525"/>
            <a:ext cx="1825969" cy="45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OutcomeDelayed or incorrect diagnosis</a:t>
            </a:r>
            <a:endParaRPr lang="en-US" sz="10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718949" y="7544341"/>
            <a:ext cx="404447" cy="404447"/>
          </a:xfrm>
          <a:prstGeom prst="rect">
            <a:avLst/>
          </a:prstGeom>
        </p:spPr>
      </p:pic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9E566446-5260-3F02-40B7-792E48332D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02224" y="2848992"/>
            <a:ext cx="45719" cy="469534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CE3E97A-71A2-204D-C612-5D9A225A6C08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8939">
        <p159:morph option="byObject"/>
      </p:transition>
    </mc:Choice>
    <mc:Fallback xmlns="">
      <p:transition spd="slow" advTm="8939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E68D6-AB0E-D979-8E34-478C31D67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970787-C5CC-EA77-4A8C-C6DB9CD4CC7A}"/>
              </a:ext>
            </a:extLst>
          </p:cNvPr>
          <p:cNvSpPr/>
          <p:nvPr/>
        </p:nvSpPr>
        <p:spPr>
          <a:xfrm>
            <a:off x="793790" y="726162"/>
            <a:ext cx="8759666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Problem: Diagnostic Bottleneck</a:t>
            </a:r>
            <a:endParaRPr lang="en-US" sz="3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4D0075-A849-4913-7B7A-F6C7AAF9D0AC}"/>
              </a:ext>
            </a:extLst>
          </p:cNvPr>
          <p:cNvSpPr/>
          <p:nvPr/>
        </p:nvSpPr>
        <p:spPr>
          <a:xfrm>
            <a:off x="793790" y="1394103"/>
            <a:ext cx="4597479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High Cost of Manual Diagnosis</a:t>
            </a:r>
            <a:endParaRPr lang="en-US" sz="22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FDAC7F1-BF39-FAAB-DD1C-561519F44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23242"/>
            <a:ext cx="90726" cy="9072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B60336A-B0B5-4E97-C596-D6AB4AE41787}"/>
              </a:ext>
            </a:extLst>
          </p:cNvPr>
          <p:cNvSpPr/>
          <p:nvPr/>
        </p:nvSpPr>
        <p:spPr>
          <a:xfrm>
            <a:off x="1065967" y="2023467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review of patient data is slow and error-prone.</a:t>
            </a:r>
            <a:endParaRPr lang="en-US" sz="14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9D33F540-9393-81F5-FABF-3BEC02FE8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123242"/>
            <a:ext cx="90726" cy="90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5B1BBCB5-76E7-8FFD-F538-8C86BF227A35}"/>
              </a:ext>
            </a:extLst>
          </p:cNvPr>
          <p:cNvSpPr/>
          <p:nvPr/>
        </p:nvSpPr>
        <p:spPr>
          <a:xfrm>
            <a:off x="5489138" y="2023467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in 10 diagnoses are incorrect, impacting patient care.</a:t>
            </a:r>
            <a:endParaRPr lang="en-US" sz="140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66E3619C-1FC1-CC12-4A37-34F1E89DC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123242"/>
            <a:ext cx="90726" cy="90726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B1F8E591-D647-92A8-16CE-BD1B7885BEF4}"/>
              </a:ext>
            </a:extLst>
          </p:cNvPr>
          <p:cNvSpPr/>
          <p:nvPr/>
        </p:nvSpPr>
        <p:spPr>
          <a:xfrm>
            <a:off x="9912310" y="2023467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diagnosis is deadly, especially for time-sensitive conditions like cancer.</a:t>
            </a:r>
            <a:endParaRPr lang="en-US" sz="1400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C143E172-0DFD-C592-4B7E-7AE3162C6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457" y="2808089"/>
            <a:ext cx="10298588" cy="4695349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63BD2A29-BEFC-BA5B-D0B6-1F948609FEDF}"/>
              </a:ext>
            </a:extLst>
          </p:cNvPr>
          <p:cNvSpPr/>
          <p:nvPr/>
        </p:nvSpPr>
        <p:spPr>
          <a:xfrm>
            <a:off x="3669846" y="3071450"/>
            <a:ext cx="1825969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PaperworkManual forms and patient files pile up</a:t>
            </a:r>
            <a:endParaRPr lang="en-US" sz="1050" dirty="0"/>
          </a:p>
        </p:txBody>
      </p:sp>
      <p:pic>
        <p:nvPicPr>
          <p:cNvPr id="12" name="Image 4" descr="preencoded.png">
            <a:extLst>
              <a:ext uri="{FF2B5EF4-FFF2-40B4-BE49-F238E27FC236}">
                <a16:creationId xmlns:a16="http://schemas.microsoft.com/office/drawing/2014/main" id="{199CF00C-9525-AFE8-A730-AE09681944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5623" y="4282283"/>
            <a:ext cx="404447" cy="404447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95F4056C-056A-C45D-03D2-36193F7BDE08}"/>
              </a:ext>
            </a:extLst>
          </p:cNvPr>
          <p:cNvSpPr/>
          <p:nvPr/>
        </p:nvSpPr>
        <p:spPr>
          <a:xfrm>
            <a:off x="5475749" y="6592961"/>
            <a:ext cx="1836002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ReportsSlow results and fragmented data</a:t>
            </a:r>
            <a:endParaRPr lang="en-US" sz="1050" dirty="0"/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9A46C4E5-EE97-81F2-35CB-D33076B6E5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1527" y="5757104"/>
            <a:ext cx="404447" cy="404447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5178B3AE-696E-0D92-68D8-817B4904B90C}"/>
              </a:ext>
            </a:extLst>
          </p:cNvPr>
          <p:cNvSpPr/>
          <p:nvPr/>
        </p:nvSpPr>
        <p:spPr>
          <a:xfrm>
            <a:off x="7261587" y="3036335"/>
            <a:ext cx="1825969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 ReviewTime-consuming manual interpretation</a:t>
            </a:r>
            <a:endParaRPr lang="en-US" sz="1050" dirty="0"/>
          </a:p>
        </p:txBody>
      </p:sp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37514AE9-6F24-F668-CA99-CCEC474E15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7463" y="4242152"/>
            <a:ext cx="404448" cy="404447"/>
          </a:xfrm>
          <a:prstGeom prst="rect">
            <a:avLst/>
          </a:prstGeom>
        </p:spPr>
      </p:pic>
      <p:sp>
        <p:nvSpPr>
          <p:cNvPr id="17" name="Text 8">
            <a:extLst>
              <a:ext uri="{FF2B5EF4-FFF2-40B4-BE49-F238E27FC236}">
                <a16:creationId xmlns:a16="http://schemas.microsoft.com/office/drawing/2014/main" id="{F3540B3A-AA0F-CEAC-C8D1-2EB9DE96B72C}"/>
              </a:ext>
            </a:extLst>
          </p:cNvPr>
          <p:cNvSpPr/>
          <p:nvPr/>
        </p:nvSpPr>
        <p:spPr>
          <a:xfrm>
            <a:off x="9067491" y="6705831"/>
            <a:ext cx="1825969" cy="45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OutcomeDelayed or incorrect diagnosis</a:t>
            </a:r>
            <a:endParaRPr lang="en-US" sz="1050" dirty="0"/>
          </a:p>
        </p:txBody>
      </p:sp>
      <p:pic>
        <p:nvPicPr>
          <p:cNvPr id="18" name="Image 7" descr="preencoded.png">
            <a:extLst>
              <a:ext uri="{FF2B5EF4-FFF2-40B4-BE49-F238E27FC236}">
                <a16:creationId xmlns:a16="http://schemas.microsoft.com/office/drawing/2014/main" id="{4B07C798-F9E4-5BD3-47FD-F06B7720ADB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83268" y="5757104"/>
            <a:ext cx="404447" cy="40444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5898D7B-38D4-B205-07A8-3BCA2E13A29C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432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4405">
        <p159:morph option="byObject"/>
      </p:transition>
    </mc:Choice>
    <mc:Fallback xmlns="">
      <p:transition spd="slow" advTm="14405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4960"/>
            <a:ext cx="5888712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Solution: AI Clinical Co-Pilot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3790" y="1177647"/>
            <a:ext cx="4193024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Augmenting Expertise, Not Replacing 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379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642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it is: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642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analysis of patient data (lab results, biometrics) for rapid diagnostic insights.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9053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5316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Who it's for: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5316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Clinicians seeking powerful, data-driven decision support.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58727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4990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Value: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4990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Streamlines workflow, boosts accuracy, and provides critical 'second opinion' support.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47900" y="8882813"/>
            <a:ext cx="1551258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Symptoms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47900" y="9200986"/>
            <a:ext cx="1551258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clinical signs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-2465248" y="4516380"/>
            <a:ext cx="1585168" cy="500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Diagnostic insight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-2465248" y="5084904"/>
            <a:ext cx="1585168" cy="38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clinician guidance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131245" y="9007990"/>
            <a:ext cx="1551257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131245" y="9326163"/>
            <a:ext cx="1551257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and analyzes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5495197" y="4766732"/>
            <a:ext cx="1585167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Patient file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5495197" y="5084905"/>
            <a:ext cx="1585167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history &amp; notes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18327" y="-1174959"/>
            <a:ext cx="1593646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Lab results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218327" y="-856787"/>
            <a:ext cx="1593646" cy="19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test data</a:t>
            </a:r>
            <a:endParaRPr lang="en-US" sz="10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C3BBBF-1BFC-E09B-16D5-59248680484F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25305">
        <p159:morph option="byObject"/>
      </p:transition>
    </mc:Choice>
    <mc:Fallback xmlns="">
      <p:transition spd="slow" advTm="25305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EE83A-697D-EA13-7765-BFDC5698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27D72E-571E-C998-BDC7-8A6891BB74B5}"/>
              </a:ext>
            </a:extLst>
          </p:cNvPr>
          <p:cNvSpPr/>
          <p:nvPr/>
        </p:nvSpPr>
        <p:spPr>
          <a:xfrm>
            <a:off x="793790" y="634960"/>
            <a:ext cx="5888712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Solution: AI Clinical Co-Pilot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C2137A-E89D-3CE5-2CE8-D1F28B58ED98}"/>
              </a:ext>
            </a:extLst>
          </p:cNvPr>
          <p:cNvSpPr/>
          <p:nvPr/>
        </p:nvSpPr>
        <p:spPr>
          <a:xfrm>
            <a:off x="793790" y="1177647"/>
            <a:ext cx="4193024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Augmenting Expertise, Not Replacing It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48EEF0-57EE-9F07-64B0-4B1B543CDA9C}"/>
              </a:ext>
            </a:extLst>
          </p:cNvPr>
          <p:cNvSpPr/>
          <p:nvPr/>
        </p:nvSpPr>
        <p:spPr>
          <a:xfrm>
            <a:off x="79379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4112AA-3A4B-3DBE-FE3B-F770CCBD3059}"/>
              </a:ext>
            </a:extLst>
          </p:cNvPr>
          <p:cNvSpPr/>
          <p:nvPr/>
        </p:nvSpPr>
        <p:spPr>
          <a:xfrm>
            <a:off x="95642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it is: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1BC166-B4D9-BE73-7E79-BEADD1D6DE60}"/>
              </a:ext>
            </a:extLst>
          </p:cNvPr>
          <p:cNvSpPr/>
          <p:nvPr/>
        </p:nvSpPr>
        <p:spPr>
          <a:xfrm>
            <a:off x="95642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analysis of patient data (lab results, biometrics) for rapid diagnostic insights.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E7F07C2-87B6-3B68-6FDF-0A2D5AA372D4}"/>
              </a:ext>
            </a:extLst>
          </p:cNvPr>
          <p:cNvSpPr/>
          <p:nvPr/>
        </p:nvSpPr>
        <p:spPr>
          <a:xfrm>
            <a:off x="519053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911A85-8CC1-1B95-2F92-F8B6F5F88300}"/>
              </a:ext>
            </a:extLst>
          </p:cNvPr>
          <p:cNvSpPr/>
          <p:nvPr/>
        </p:nvSpPr>
        <p:spPr>
          <a:xfrm>
            <a:off x="535316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Who it's for: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E4AE2F2-DBD1-11D9-F14B-054877A0D3A3}"/>
              </a:ext>
            </a:extLst>
          </p:cNvPr>
          <p:cNvSpPr/>
          <p:nvPr/>
        </p:nvSpPr>
        <p:spPr>
          <a:xfrm>
            <a:off x="535316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Clinicians seeking powerful, data-driven decision support.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D54F0CB-62F2-D41A-9FC1-FC4EAFF98103}"/>
              </a:ext>
            </a:extLst>
          </p:cNvPr>
          <p:cNvSpPr/>
          <p:nvPr/>
        </p:nvSpPr>
        <p:spPr>
          <a:xfrm>
            <a:off x="958727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89B5A11-E4AC-D392-AE6B-ADCEBC9238A8}"/>
              </a:ext>
            </a:extLst>
          </p:cNvPr>
          <p:cNvSpPr/>
          <p:nvPr/>
        </p:nvSpPr>
        <p:spPr>
          <a:xfrm>
            <a:off x="974990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Value: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5DE3976-B29A-F78E-B45E-ACA904D1D13B}"/>
              </a:ext>
            </a:extLst>
          </p:cNvPr>
          <p:cNvSpPr/>
          <p:nvPr/>
        </p:nvSpPr>
        <p:spPr>
          <a:xfrm>
            <a:off x="974990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Streamlines workflow, boosts accuracy, and provides critical 'second opinion' support.</a:t>
            </a:r>
            <a:endParaRPr lang="en-US" sz="115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52DC1B5E-42DC-2D86-A90C-38E238795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870" y="2904173"/>
            <a:ext cx="5978843" cy="4612838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4298ACFD-9B0E-802A-DE93-00B07E39EDD8}"/>
              </a:ext>
            </a:extLst>
          </p:cNvPr>
          <p:cNvSpPr/>
          <p:nvPr/>
        </p:nvSpPr>
        <p:spPr>
          <a:xfrm>
            <a:off x="6786190" y="5017085"/>
            <a:ext cx="1042738" cy="50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Clinical Co‑Pilot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214A843-00BB-A4B8-E2C5-F8C3DFB9CC8A}"/>
              </a:ext>
            </a:extLst>
          </p:cNvPr>
          <p:cNvSpPr/>
          <p:nvPr/>
        </p:nvSpPr>
        <p:spPr>
          <a:xfrm>
            <a:off x="7811973" y="6447670"/>
            <a:ext cx="1551258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Symptoms</a:t>
            </a:r>
            <a:endParaRPr lang="en-US" sz="14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60AA3B0-A1CA-F446-7969-B3B89280E0B6}"/>
              </a:ext>
            </a:extLst>
          </p:cNvPr>
          <p:cNvSpPr/>
          <p:nvPr/>
        </p:nvSpPr>
        <p:spPr>
          <a:xfrm>
            <a:off x="7811973" y="6765843"/>
            <a:ext cx="1551258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clinical signs</a:t>
            </a:r>
            <a:endParaRPr lang="en-US" sz="10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0534307-8014-C311-D36D-9B8E0E639069}"/>
              </a:ext>
            </a:extLst>
          </p:cNvPr>
          <p:cNvSpPr/>
          <p:nvPr/>
        </p:nvSpPr>
        <p:spPr>
          <a:xfrm>
            <a:off x="4560585" y="4829579"/>
            <a:ext cx="1585168" cy="500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Diagnostic insight</a:t>
            </a: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2C1750D-E495-FCB1-2E49-24884678F64D}"/>
              </a:ext>
            </a:extLst>
          </p:cNvPr>
          <p:cNvSpPr/>
          <p:nvPr/>
        </p:nvSpPr>
        <p:spPr>
          <a:xfrm>
            <a:off x="4560585" y="5398103"/>
            <a:ext cx="1585168" cy="38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clinician guidance</a:t>
            </a:r>
            <a:endParaRPr lang="en-US" sz="10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DB6A3E4-96C2-D9B0-11E9-B983EFB563CB}"/>
              </a:ext>
            </a:extLst>
          </p:cNvPr>
          <p:cNvSpPr/>
          <p:nvPr/>
        </p:nvSpPr>
        <p:spPr>
          <a:xfrm>
            <a:off x="5226323" y="6447670"/>
            <a:ext cx="1551257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</a:t>
            </a:r>
            <a:endParaRPr lang="en-US" sz="14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069A21B-B4E3-FBC5-DB3B-7D95CD953474}"/>
              </a:ext>
            </a:extLst>
          </p:cNvPr>
          <p:cNvSpPr/>
          <p:nvPr/>
        </p:nvSpPr>
        <p:spPr>
          <a:xfrm>
            <a:off x="5226323" y="6765843"/>
            <a:ext cx="1551257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and analyzes</a:t>
            </a:r>
            <a:endParaRPr lang="en-US" sz="10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13A5B4A-8712-0967-4921-FF5E39747290}"/>
              </a:ext>
            </a:extLst>
          </p:cNvPr>
          <p:cNvSpPr/>
          <p:nvPr/>
        </p:nvSpPr>
        <p:spPr>
          <a:xfrm>
            <a:off x="8456266" y="4913235"/>
            <a:ext cx="1585167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Patient file</a:t>
            </a:r>
            <a:endParaRPr lang="en-US" sz="14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3648E3C-0121-F641-1DC5-3E9E4942E0A4}"/>
              </a:ext>
            </a:extLst>
          </p:cNvPr>
          <p:cNvSpPr/>
          <p:nvPr/>
        </p:nvSpPr>
        <p:spPr>
          <a:xfrm>
            <a:off x="8456266" y="5231408"/>
            <a:ext cx="1585167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history &amp; notes</a:t>
            </a:r>
            <a:endParaRPr lang="en-US" sz="10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FB35860-5F20-57C9-E263-A3E0528745AA}"/>
              </a:ext>
            </a:extLst>
          </p:cNvPr>
          <p:cNvSpPr/>
          <p:nvPr/>
        </p:nvSpPr>
        <p:spPr>
          <a:xfrm>
            <a:off x="6491469" y="3321266"/>
            <a:ext cx="1593646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Lab results</a:t>
            </a:r>
            <a:endParaRPr lang="en-US" sz="14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7101EA8-DDAF-9FB6-D656-872783ACEA5C}"/>
              </a:ext>
            </a:extLst>
          </p:cNvPr>
          <p:cNvSpPr/>
          <p:nvPr/>
        </p:nvSpPr>
        <p:spPr>
          <a:xfrm>
            <a:off x="6491469" y="3639438"/>
            <a:ext cx="1593646" cy="19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test data</a:t>
            </a:r>
            <a:endParaRPr lang="en-US" sz="10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6A9698-C986-0AE9-84F5-806F57C7EE91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943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29016">
        <p159:morph option="byObject"/>
      </p:transition>
    </mc:Choice>
    <mc:Fallback xmlns="">
      <p:transition spd="slow" advTm="29016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8300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Core Engine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356241"/>
            <a:ext cx="3406497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AI System Works</a:t>
            </a:r>
            <a:endParaRPr lang="en-US" sz="2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90830" y="1239308"/>
            <a:ext cx="8061841" cy="5555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98751" y="9545633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98751" y="9937240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interface for data input.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040557" y="-1877683"/>
            <a:ext cx="2274643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40557" y="-1486076"/>
            <a:ext cx="2274643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data, logic &amp; AI model communication.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890457" y="9227391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890457" y="9618998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Cleans, validates &amp; prepares data for AI.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9093528" y="-1170607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Inference Engine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9093528" y="-779000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accurate diagnostic predictions.</a:t>
            </a:r>
            <a:endParaRPr lang="en-US" sz="10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4DEDDC-2FCC-06CD-FCFA-929E8E262E89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232">
        <p159:morph option="byObject"/>
      </p:transition>
    </mc:Choice>
    <mc:Fallback xmlns="">
      <p:transition spd="slow" advTm="3232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CE220-A766-331B-5C1D-CB39BC37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3F975C-2E46-8880-5A80-444E368557E8}"/>
              </a:ext>
            </a:extLst>
          </p:cNvPr>
          <p:cNvSpPr/>
          <p:nvPr/>
        </p:nvSpPr>
        <p:spPr>
          <a:xfrm>
            <a:off x="793790" y="688300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Core Engine</a:t>
            </a:r>
            <a:endParaRPr lang="en-US" sz="3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48EDDB-F2BA-50E8-B26D-69D877E3FD94}"/>
              </a:ext>
            </a:extLst>
          </p:cNvPr>
          <p:cNvSpPr/>
          <p:nvPr/>
        </p:nvSpPr>
        <p:spPr>
          <a:xfrm>
            <a:off x="793790" y="1356241"/>
            <a:ext cx="3406497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AI System Works</a:t>
            </a:r>
            <a:endParaRPr lang="en-US" sz="22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9ED00BF-0FA1-0CB0-16F9-164A80CE1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279" y="1985606"/>
            <a:ext cx="8061841" cy="555569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9EFA22D-DB86-D28E-1A38-B0620D3FA464}"/>
              </a:ext>
            </a:extLst>
          </p:cNvPr>
          <p:cNvSpPr/>
          <p:nvPr/>
        </p:nvSpPr>
        <p:spPr>
          <a:xfrm>
            <a:off x="3486155" y="5442556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53B8EB5-C98D-42A1-9E28-DAC8D42F7165}"/>
              </a:ext>
            </a:extLst>
          </p:cNvPr>
          <p:cNvSpPr/>
          <p:nvPr/>
        </p:nvSpPr>
        <p:spPr>
          <a:xfrm>
            <a:off x="3486155" y="5834163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interface for data input.</a:t>
            </a:r>
            <a:endParaRPr lang="en-US" sz="10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31BA015-6F7F-22E4-C527-1F03CA568140}"/>
              </a:ext>
            </a:extLst>
          </p:cNvPr>
          <p:cNvSpPr/>
          <p:nvPr/>
        </p:nvSpPr>
        <p:spPr>
          <a:xfrm>
            <a:off x="5363486" y="2541865"/>
            <a:ext cx="2274643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4957EE3-6137-3314-E28F-38EA01F8EF65}"/>
              </a:ext>
            </a:extLst>
          </p:cNvPr>
          <p:cNvSpPr/>
          <p:nvPr/>
        </p:nvSpPr>
        <p:spPr>
          <a:xfrm>
            <a:off x="5363486" y="2933472"/>
            <a:ext cx="2274643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data, logic &amp; AI model communication.</a:t>
            </a:r>
            <a:endParaRPr lang="en-US" sz="10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211CC45-6ABF-93AA-2D22-A10AAEE64116}"/>
              </a:ext>
            </a:extLst>
          </p:cNvPr>
          <p:cNvSpPr/>
          <p:nvPr/>
        </p:nvSpPr>
        <p:spPr>
          <a:xfrm>
            <a:off x="6890457" y="6125829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8C97D6E-E9FC-33CF-DFF5-30F597CD9CEF}"/>
              </a:ext>
            </a:extLst>
          </p:cNvPr>
          <p:cNvSpPr/>
          <p:nvPr/>
        </p:nvSpPr>
        <p:spPr>
          <a:xfrm>
            <a:off x="6890457" y="6517436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Cleans, validates &amp; prepares data for AI.</a:t>
            </a:r>
            <a:endParaRPr lang="en-US" sz="10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A4B0444-33F1-F120-1E2A-7D23E8EA110F}"/>
              </a:ext>
            </a:extLst>
          </p:cNvPr>
          <p:cNvSpPr/>
          <p:nvPr/>
        </p:nvSpPr>
        <p:spPr>
          <a:xfrm>
            <a:off x="8846042" y="3156012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Inference Engine</a:t>
            </a:r>
            <a:endParaRPr lang="en-US" sz="14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41EED02-B70E-80A1-7844-43D92FCBD380}"/>
              </a:ext>
            </a:extLst>
          </p:cNvPr>
          <p:cNvSpPr/>
          <p:nvPr/>
        </p:nvSpPr>
        <p:spPr>
          <a:xfrm>
            <a:off x="8846042" y="3547619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accurate diagnostic predictions.</a:t>
            </a:r>
            <a:endParaRPr lang="en-US" sz="10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40AC1B-0B2B-CBD9-BE28-43BFD64EB155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84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5950">
        <p159:morph option="byObject"/>
      </p:transition>
    </mc:Choice>
    <mc:Fallback xmlns="">
      <p:transition spd="slow" advTm="595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4906"/>
            <a:ext cx="100310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Engine: Powering Precision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989892"/>
            <a:ext cx="436125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for Accuracy &amp; Speed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67548" y="3545182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18011" y="367984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Language: Python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6270386" y="4383202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AI. Robust data science &amp; ML ecosystem.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29001" y="3731217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279464" y="386587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Science: Pandas, NumPy, Scikit-learn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21279464" y="474610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for data. Manipulation, computation, ML modeling.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871103" y="3731217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721567" y="386587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Framework: Streamlit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25721567" y="474610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UI. Quick prototyping &amp; app deployment.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986898" y="5925538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837361" y="6060198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Model: Random Forest / XGBoost</a:t>
            </a:r>
            <a:endParaRPr lang="en-US" sz="2300" dirty="0"/>
          </a:p>
        </p:txBody>
      </p:sp>
      <p:sp>
        <p:nvSpPr>
          <p:cNvPr id="15" name="Text 9"/>
          <p:cNvSpPr/>
          <p:nvPr/>
        </p:nvSpPr>
        <p:spPr>
          <a:xfrm>
            <a:off x="16837361" y="6940427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predictions. Efficient, reliable diagnostic AI.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29001" y="5925538"/>
            <a:ext cx="566976" cy="5669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279464" y="6060198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Visualization: Plotly / Matplotlib</a:t>
            </a:r>
            <a:endParaRPr lang="en-US" sz="2300" dirty="0"/>
          </a:p>
        </p:txBody>
      </p:sp>
      <p:sp>
        <p:nvSpPr>
          <p:cNvPr id="18" name="Text 11"/>
          <p:cNvSpPr/>
          <p:nvPr/>
        </p:nvSpPr>
        <p:spPr>
          <a:xfrm>
            <a:off x="21279464" y="6940427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insights. Dynamic data visualization for medical clarity.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CC932C-4FBB-95C4-21E4-65D251480985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713">
        <p159:morph option="byObject"/>
      </p:transition>
    </mc:Choice>
    <mc:Fallback xmlns="">
      <p:transition spd="slow" advTm="4713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07F76-6880-552F-A352-E1244C258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AEB110-01C9-BADC-8DC7-B021686E3EBB}"/>
              </a:ext>
            </a:extLst>
          </p:cNvPr>
          <p:cNvSpPr/>
          <p:nvPr/>
        </p:nvSpPr>
        <p:spPr>
          <a:xfrm>
            <a:off x="793790" y="1154906"/>
            <a:ext cx="100310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Engine: Powering Precision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5D3FEC-3147-21AD-4475-708FE566BEAF}"/>
              </a:ext>
            </a:extLst>
          </p:cNvPr>
          <p:cNvSpPr/>
          <p:nvPr/>
        </p:nvSpPr>
        <p:spPr>
          <a:xfrm>
            <a:off x="793790" y="1989892"/>
            <a:ext cx="436125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for Accuracy &amp; Speed</a:t>
            </a:r>
            <a:endParaRPr lang="en-US" sz="2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F21441-1A0F-8487-D476-2848558D8EB4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2F207413-FB2D-7DA8-D976-6E3512F8D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038453"/>
            <a:ext cx="566976" cy="566976"/>
          </a:xfrm>
          <a:prstGeom prst="rect">
            <a:avLst/>
          </a:prstGeom>
        </p:spPr>
      </p:pic>
      <p:sp>
        <p:nvSpPr>
          <p:cNvPr id="21" name="Text 2">
            <a:extLst>
              <a:ext uri="{FF2B5EF4-FFF2-40B4-BE49-F238E27FC236}">
                <a16:creationId xmlns:a16="http://schemas.microsoft.com/office/drawing/2014/main" id="{9180ED9C-F863-EE66-78E3-E58C00676C70}"/>
              </a:ext>
            </a:extLst>
          </p:cNvPr>
          <p:cNvSpPr/>
          <p:nvPr/>
        </p:nvSpPr>
        <p:spPr>
          <a:xfrm>
            <a:off x="1644253" y="317311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Language: Python</a:t>
            </a:r>
            <a:endParaRPr lang="en-US" sz="23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44524278-C23F-01D6-AD11-37FFBDD26D60}"/>
              </a:ext>
            </a:extLst>
          </p:cNvPr>
          <p:cNvSpPr/>
          <p:nvPr/>
        </p:nvSpPr>
        <p:spPr>
          <a:xfrm>
            <a:off x="1596628" y="3876473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AI. Robust data science &amp; ML ecosystem.</a:t>
            </a:r>
            <a:endParaRPr lang="en-US" sz="1750" dirty="0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F5637B18-AA88-B811-E55E-728E23EBE7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076201" y="1392436"/>
            <a:ext cx="566976" cy="566976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56DF009B-0F3F-6642-3906-4F9CB8DC6173}"/>
              </a:ext>
            </a:extLst>
          </p:cNvPr>
          <p:cNvSpPr/>
          <p:nvPr/>
        </p:nvSpPr>
        <p:spPr>
          <a:xfrm>
            <a:off x="17926664" y="1527095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Science: Pandas, NumPy, Scikit-learn</a:t>
            </a:r>
            <a:endParaRPr lang="en-US" sz="23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46ED4300-92CE-9B8E-117A-10B64E60A158}"/>
              </a:ext>
            </a:extLst>
          </p:cNvPr>
          <p:cNvSpPr/>
          <p:nvPr/>
        </p:nvSpPr>
        <p:spPr>
          <a:xfrm>
            <a:off x="17926664" y="2407324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for data. Manipulation, computation, ML modeling.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912288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04">
        <p159:morph option="byObject"/>
      </p:transition>
    </mc:Choice>
    <mc:Fallback xmlns="">
      <p:transition spd="slow" advTm="1804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94AC7-727E-C5B7-3E34-F3AAE70CA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33B2C6-4938-A0DB-C55D-624616934591}"/>
              </a:ext>
            </a:extLst>
          </p:cNvPr>
          <p:cNvSpPr/>
          <p:nvPr/>
        </p:nvSpPr>
        <p:spPr>
          <a:xfrm>
            <a:off x="793790" y="1154906"/>
            <a:ext cx="100310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Engine: Powering Precision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F7121F-6820-C2ED-3334-C23CD2A87215}"/>
              </a:ext>
            </a:extLst>
          </p:cNvPr>
          <p:cNvSpPr/>
          <p:nvPr/>
        </p:nvSpPr>
        <p:spPr>
          <a:xfrm>
            <a:off x="874634" y="2035255"/>
            <a:ext cx="436125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for Accuracy &amp; Speed</a:t>
            </a:r>
            <a:endParaRPr lang="en-US" sz="28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52708BE-6173-9663-EDC7-76D56330F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76657"/>
            <a:ext cx="566976" cy="56697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4B1583D-5EE4-9FEA-4125-16028EC08A38}"/>
              </a:ext>
            </a:extLst>
          </p:cNvPr>
          <p:cNvSpPr/>
          <p:nvPr/>
        </p:nvSpPr>
        <p:spPr>
          <a:xfrm>
            <a:off x="1644253" y="29113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Language: Python</a:t>
            </a:r>
            <a:endParaRPr lang="en-US" sz="2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7C4EF47-EDD8-816D-8F27-2CE32657F2F9}"/>
              </a:ext>
            </a:extLst>
          </p:cNvPr>
          <p:cNvSpPr/>
          <p:nvPr/>
        </p:nvSpPr>
        <p:spPr>
          <a:xfrm>
            <a:off x="1644253" y="341947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AI. Robust data science &amp; ML ecosystem.</a:t>
            </a:r>
            <a:endParaRPr lang="en-US" sz="17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E97D07A3-8480-11E4-D1A1-19A5C341C1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776657"/>
            <a:ext cx="566976" cy="56697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695882FA-7DE4-1657-E55E-2B5B19C39219}"/>
              </a:ext>
            </a:extLst>
          </p:cNvPr>
          <p:cNvSpPr/>
          <p:nvPr/>
        </p:nvSpPr>
        <p:spPr>
          <a:xfrm>
            <a:off x="6086356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Science: Pandas, NumPy, Scikit-learn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9D968B5-5423-3FAA-94BD-12017B217578}"/>
              </a:ext>
            </a:extLst>
          </p:cNvPr>
          <p:cNvSpPr/>
          <p:nvPr/>
        </p:nvSpPr>
        <p:spPr>
          <a:xfrm>
            <a:off x="6086356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for data. Manipulation, computation, ML modeling.</a:t>
            </a:r>
            <a:endParaRPr lang="en-US" sz="17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548F9753-6244-7BAE-DA51-E6060B1520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881532" y="3656886"/>
            <a:ext cx="566976" cy="566976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EF38AF1B-D6B2-5B0C-79D2-97D51AAC2E20}"/>
              </a:ext>
            </a:extLst>
          </p:cNvPr>
          <p:cNvSpPr/>
          <p:nvPr/>
        </p:nvSpPr>
        <p:spPr>
          <a:xfrm>
            <a:off x="20731996" y="3791545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Framework: Streamlit</a:t>
            </a:r>
            <a:endParaRPr lang="en-US" sz="23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FBBF781-3DD9-AF6D-7643-48800CC3E64C}"/>
              </a:ext>
            </a:extLst>
          </p:cNvPr>
          <p:cNvSpPr/>
          <p:nvPr/>
        </p:nvSpPr>
        <p:spPr>
          <a:xfrm>
            <a:off x="20731996" y="4671774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UI. Quick prototyping &amp; app deployment.</a:t>
            </a:r>
            <a:endParaRPr lang="en-US" sz="175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1BD04CF8-298A-7BEC-697E-A3A889C04B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439430" y="6067781"/>
            <a:ext cx="566976" cy="566976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4F55D34A-0946-B92A-AB8E-152E11E6E686}"/>
              </a:ext>
            </a:extLst>
          </p:cNvPr>
          <p:cNvSpPr/>
          <p:nvPr/>
        </p:nvSpPr>
        <p:spPr>
          <a:xfrm>
            <a:off x="16289893" y="6202441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Model: Random Forest / XGBoost</a:t>
            </a:r>
            <a:endParaRPr lang="en-US" sz="23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C608A89-B8C8-17C1-C79F-29FE920CE53B}"/>
              </a:ext>
            </a:extLst>
          </p:cNvPr>
          <p:cNvSpPr/>
          <p:nvPr/>
        </p:nvSpPr>
        <p:spPr>
          <a:xfrm>
            <a:off x="16289893" y="708267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predictions. Efficient, reliable diagnostic AI.</a:t>
            </a:r>
            <a:endParaRPr lang="en-US" sz="1750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AE5653F4-AB74-B79D-D8DD-94EEA88B0D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881533" y="6067781"/>
            <a:ext cx="566976" cy="566976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8B3FEA32-5349-C2E3-3FE7-96A961797FB5}"/>
              </a:ext>
            </a:extLst>
          </p:cNvPr>
          <p:cNvSpPr/>
          <p:nvPr/>
        </p:nvSpPr>
        <p:spPr>
          <a:xfrm>
            <a:off x="20731996" y="6202441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Visualization: Plotly / Matplotlib</a:t>
            </a:r>
            <a:endParaRPr lang="en-US" sz="23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D5A47A75-A3D2-7949-90B1-DB17D3741B24}"/>
              </a:ext>
            </a:extLst>
          </p:cNvPr>
          <p:cNvSpPr/>
          <p:nvPr/>
        </p:nvSpPr>
        <p:spPr>
          <a:xfrm>
            <a:off x="20731996" y="7082670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insights. Dynamic data visualization for medical clarity.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49A84F-BDD4-B797-40A9-831E876F9036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445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2578">
        <p159:morph option="byObject"/>
      </p:transition>
    </mc:Choice>
    <mc:Fallback xmlns="">
      <p:transition spd="slow" advTm="2578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D999B-753A-6A40-B83E-49C015B0D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778EE8-EC29-5B00-46A2-5B32CDFA2697}"/>
              </a:ext>
            </a:extLst>
          </p:cNvPr>
          <p:cNvSpPr/>
          <p:nvPr/>
        </p:nvSpPr>
        <p:spPr>
          <a:xfrm>
            <a:off x="793790" y="1154906"/>
            <a:ext cx="100310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Engine: Powering Precision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6EB5D5-14BA-A176-2E94-CB8D22C8E246}"/>
              </a:ext>
            </a:extLst>
          </p:cNvPr>
          <p:cNvSpPr/>
          <p:nvPr/>
        </p:nvSpPr>
        <p:spPr>
          <a:xfrm>
            <a:off x="793790" y="1989892"/>
            <a:ext cx="436125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for Accuracy &amp; Speed</a:t>
            </a:r>
            <a:endParaRPr lang="en-US" sz="28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91451D9-97A4-8495-A982-9BAE3C315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76657"/>
            <a:ext cx="566976" cy="56697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9044537-17DC-AB47-17CB-97FD3B1A4141}"/>
              </a:ext>
            </a:extLst>
          </p:cNvPr>
          <p:cNvSpPr/>
          <p:nvPr/>
        </p:nvSpPr>
        <p:spPr>
          <a:xfrm>
            <a:off x="1644253" y="29113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Language: Python</a:t>
            </a:r>
            <a:endParaRPr lang="en-US" sz="2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51AD5E2-E5C4-0D31-A1C2-16659ED42E9C}"/>
              </a:ext>
            </a:extLst>
          </p:cNvPr>
          <p:cNvSpPr/>
          <p:nvPr/>
        </p:nvSpPr>
        <p:spPr>
          <a:xfrm>
            <a:off x="1644253" y="341947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AI. Robust data science &amp; ML ecosystem.</a:t>
            </a:r>
            <a:endParaRPr lang="en-US" sz="17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24D6A34-DF48-9677-C906-6D7BB80459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776657"/>
            <a:ext cx="566976" cy="56697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062EF155-8E4C-631D-1040-0A69218E87A3}"/>
              </a:ext>
            </a:extLst>
          </p:cNvPr>
          <p:cNvSpPr/>
          <p:nvPr/>
        </p:nvSpPr>
        <p:spPr>
          <a:xfrm>
            <a:off x="6086356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Science: Pandas, NumPy, Scikit-learn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2166078-438E-63E2-826C-D396CC421030}"/>
              </a:ext>
            </a:extLst>
          </p:cNvPr>
          <p:cNvSpPr/>
          <p:nvPr/>
        </p:nvSpPr>
        <p:spPr>
          <a:xfrm>
            <a:off x="6086356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for data. Manipulation, computation, ML modeling.</a:t>
            </a:r>
            <a:endParaRPr lang="en-US" sz="17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58655656-00F3-9D2E-1BF2-171F506AAD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776657"/>
            <a:ext cx="566976" cy="566976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B6718143-C2BB-DCE6-4B18-A90F0A1E889D}"/>
              </a:ext>
            </a:extLst>
          </p:cNvPr>
          <p:cNvSpPr/>
          <p:nvPr/>
        </p:nvSpPr>
        <p:spPr>
          <a:xfrm>
            <a:off x="10528459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Framework: Streamlit</a:t>
            </a:r>
            <a:endParaRPr lang="en-US" sz="23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72FFE84E-6CB2-D2A4-643E-CBFA6F4D14AB}"/>
              </a:ext>
            </a:extLst>
          </p:cNvPr>
          <p:cNvSpPr/>
          <p:nvPr/>
        </p:nvSpPr>
        <p:spPr>
          <a:xfrm>
            <a:off x="10528459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UI. Quick prototyping &amp; app deployment.</a:t>
            </a:r>
            <a:endParaRPr lang="en-US" sz="175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B0B58628-17E7-E9F1-D38A-C021917B35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79267" y="4382690"/>
            <a:ext cx="566976" cy="566976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5D460288-572E-0CAF-DC3D-78B5CBE69C2C}"/>
              </a:ext>
            </a:extLst>
          </p:cNvPr>
          <p:cNvSpPr/>
          <p:nvPr/>
        </p:nvSpPr>
        <p:spPr>
          <a:xfrm>
            <a:off x="17329730" y="4517350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Model: Random Forest / XGBoost</a:t>
            </a:r>
            <a:endParaRPr lang="en-US" sz="23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62A63F4E-0F4E-B82C-53D5-764A644F4FD1}"/>
              </a:ext>
            </a:extLst>
          </p:cNvPr>
          <p:cNvSpPr/>
          <p:nvPr/>
        </p:nvSpPr>
        <p:spPr>
          <a:xfrm>
            <a:off x="17329730" y="5397579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predictions. Efficient, reliable diagnostic AI.</a:t>
            </a:r>
            <a:endParaRPr lang="en-US" sz="1750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B5E8E43A-CF08-BDB4-80C4-F56BBAC486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921370" y="4382690"/>
            <a:ext cx="566976" cy="566976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97EC7B0A-2EE3-30DB-25B6-5BED7315FB03}"/>
              </a:ext>
            </a:extLst>
          </p:cNvPr>
          <p:cNvSpPr/>
          <p:nvPr/>
        </p:nvSpPr>
        <p:spPr>
          <a:xfrm>
            <a:off x="21771833" y="4517350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Visualization: Plotly / Matplotlib</a:t>
            </a:r>
            <a:endParaRPr lang="en-US" sz="23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C400A72E-0474-5812-6AC4-F2D0B39547BA}"/>
              </a:ext>
            </a:extLst>
          </p:cNvPr>
          <p:cNvSpPr/>
          <p:nvPr/>
        </p:nvSpPr>
        <p:spPr>
          <a:xfrm>
            <a:off x="21771833" y="5397579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insights. Dynamic data visualization for medical clarity.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A87873-656B-B9CB-1851-50DE9CBFED1D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327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9147">
        <p159:morph option="byObject"/>
      </p:transition>
    </mc:Choice>
    <mc:Fallback xmlns="">
      <p:transition spd="slow" advTm="9147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994ED-0AE5-FFDF-A137-8F2AC5C5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052D3F-FE9C-CC7C-7F42-0593E8C33601}"/>
              </a:ext>
            </a:extLst>
          </p:cNvPr>
          <p:cNvSpPr/>
          <p:nvPr/>
        </p:nvSpPr>
        <p:spPr>
          <a:xfrm>
            <a:off x="793790" y="1154906"/>
            <a:ext cx="100310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Engine: Powering Precision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64E0BB-E2E8-4974-990F-9D28FAB78F53}"/>
              </a:ext>
            </a:extLst>
          </p:cNvPr>
          <p:cNvSpPr/>
          <p:nvPr/>
        </p:nvSpPr>
        <p:spPr>
          <a:xfrm>
            <a:off x="793790" y="1989892"/>
            <a:ext cx="436125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for Accuracy &amp; Speed</a:t>
            </a:r>
            <a:endParaRPr lang="en-US" sz="28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7F1679D-BF88-51DE-0E36-BAA2175A9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76657"/>
            <a:ext cx="566976" cy="56697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88D2362-1C36-8173-804A-FF8FF05EA055}"/>
              </a:ext>
            </a:extLst>
          </p:cNvPr>
          <p:cNvSpPr/>
          <p:nvPr/>
        </p:nvSpPr>
        <p:spPr>
          <a:xfrm>
            <a:off x="1644253" y="29113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Language: Python</a:t>
            </a:r>
            <a:endParaRPr lang="en-US" sz="2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BB0BC89-57F7-06C8-8068-569CFAF79256}"/>
              </a:ext>
            </a:extLst>
          </p:cNvPr>
          <p:cNvSpPr/>
          <p:nvPr/>
        </p:nvSpPr>
        <p:spPr>
          <a:xfrm>
            <a:off x="1644253" y="341947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AI. Robust data science &amp; ML ecosystem.</a:t>
            </a:r>
            <a:endParaRPr lang="en-US" sz="17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5AA2982D-185F-104D-B9CA-F18D4213D7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776657"/>
            <a:ext cx="566976" cy="56697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4AB2DE1F-0DA3-D752-8135-8B2A251B363D}"/>
              </a:ext>
            </a:extLst>
          </p:cNvPr>
          <p:cNvSpPr/>
          <p:nvPr/>
        </p:nvSpPr>
        <p:spPr>
          <a:xfrm>
            <a:off x="6086356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Science: Pandas, NumPy, Scikit-learn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E7C09BB-84CF-B5AD-E035-0E7343BFCF76}"/>
              </a:ext>
            </a:extLst>
          </p:cNvPr>
          <p:cNvSpPr/>
          <p:nvPr/>
        </p:nvSpPr>
        <p:spPr>
          <a:xfrm>
            <a:off x="6086356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for data. Manipulation, computation, ML modeling.</a:t>
            </a:r>
            <a:endParaRPr lang="en-US" sz="17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3D59B67-DB3C-80D8-916B-67A23282B2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776657"/>
            <a:ext cx="566976" cy="566976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59BCA6C7-FFFA-634D-0CA9-0F42EB9C1CA3}"/>
              </a:ext>
            </a:extLst>
          </p:cNvPr>
          <p:cNvSpPr/>
          <p:nvPr/>
        </p:nvSpPr>
        <p:spPr>
          <a:xfrm>
            <a:off x="10528459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Framework: Streamlit</a:t>
            </a:r>
            <a:endParaRPr lang="en-US" sz="23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CE20D68-F3C8-2A15-0CDD-B9941EBB7CFE}"/>
              </a:ext>
            </a:extLst>
          </p:cNvPr>
          <p:cNvSpPr/>
          <p:nvPr/>
        </p:nvSpPr>
        <p:spPr>
          <a:xfrm>
            <a:off x="10528459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UI. Quick prototyping &amp; app deployment.</a:t>
            </a:r>
            <a:endParaRPr lang="en-US" sz="175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2A62CAE8-E635-FAE9-A88E-23A80E3065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970978"/>
            <a:ext cx="566976" cy="566976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665EB7A0-F21A-1A80-11AC-C7807D683CE6}"/>
              </a:ext>
            </a:extLst>
          </p:cNvPr>
          <p:cNvSpPr/>
          <p:nvPr/>
        </p:nvSpPr>
        <p:spPr>
          <a:xfrm>
            <a:off x="1644253" y="5105638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Model: Random Forest / XGBoost</a:t>
            </a:r>
            <a:endParaRPr lang="en-US" sz="23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F672808-CFD8-9B5C-746D-055DE81079CA}"/>
              </a:ext>
            </a:extLst>
          </p:cNvPr>
          <p:cNvSpPr/>
          <p:nvPr/>
        </p:nvSpPr>
        <p:spPr>
          <a:xfrm>
            <a:off x="1644253" y="5985867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predictions. Efficient, reliable diagnostic AI.</a:t>
            </a:r>
            <a:endParaRPr lang="en-US" sz="1750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9C91E317-3084-EB92-E523-08D9A583D0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79032" y="5403294"/>
            <a:ext cx="566976" cy="566976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42D161BE-493C-1A15-4E45-124AC615111E}"/>
              </a:ext>
            </a:extLst>
          </p:cNvPr>
          <p:cNvSpPr/>
          <p:nvPr/>
        </p:nvSpPr>
        <p:spPr>
          <a:xfrm>
            <a:off x="17129495" y="5537954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Visualization: Plotly / Matplotlib</a:t>
            </a:r>
            <a:endParaRPr lang="en-US" sz="23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3C1C36CC-AD70-D0D6-9D1D-897EE67174F6}"/>
              </a:ext>
            </a:extLst>
          </p:cNvPr>
          <p:cNvSpPr/>
          <p:nvPr/>
        </p:nvSpPr>
        <p:spPr>
          <a:xfrm>
            <a:off x="17129495" y="6418183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insights. Dynamic data visualization for medical clarity.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43FE17-7656-1C0D-E801-16C4CF750922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837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5269">
        <p159:morph option="byObject"/>
      </p:transition>
    </mc:Choice>
    <mc:Fallback xmlns="">
      <p:transition spd="slow" advTm="15269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0F91-BD9C-F923-BBDB-D9450815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3D0F83-38BE-389C-A1C6-3D89C83AF275}"/>
              </a:ext>
            </a:extLst>
          </p:cNvPr>
          <p:cNvSpPr/>
          <p:nvPr/>
        </p:nvSpPr>
        <p:spPr>
          <a:xfrm>
            <a:off x="793790" y="1154906"/>
            <a:ext cx="100310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Engine: Powering Precision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D20283-44CA-C9C5-CBC0-40CBB7854CAE}"/>
              </a:ext>
            </a:extLst>
          </p:cNvPr>
          <p:cNvSpPr/>
          <p:nvPr/>
        </p:nvSpPr>
        <p:spPr>
          <a:xfrm>
            <a:off x="793790" y="1989892"/>
            <a:ext cx="436125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for Accuracy &amp; Speed</a:t>
            </a:r>
            <a:endParaRPr lang="en-US" sz="28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082F7D1-FE08-D6EF-6F1E-FF45BFBE8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76657"/>
            <a:ext cx="566976" cy="56697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F5CD75AA-8F6F-5DA8-8FFF-9E435F7A023D}"/>
              </a:ext>
            </a:extLst>
          </p:cNvPr>
          <p:cNvSpPr/>
          <p:nvPr/>
        </p:nvSpPr>
        <p:spPr>
          <a:xfrm>
            <a:off x="1644253" y="29113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Language: Python</a:t>
            </a:r>
            <a:endParaRPr lang="en-US" sz="2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1549CF7-2475-810C-9D37-94CB5F356A36}"/>
              </a:ext>
            </a:extLst>
          </p:cNvPr>
          <p:cNvSpPr/>
          <p:nvPr/>
        </p:nvSpPr>
        <p:spPr>
          <a:xfrm>
            <a:off x="1644253" y="341947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AI. Robust data science &amp; ML ecosystem.</a:t>
            </a:r>
            <a:endParaRPr lang="en-US" sz="17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4A856B8F-E75F-B7B0-911C-F6E20C1293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776657"/>
            <a:ext cx="566976" cy="56697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1FFDC899-6793-4A52-9075-AA2FF24B1F3F}"/>
              </a:ext>
            </a:extLst>
          </p:cNvPr>
          <p:cNvSpPr/>
          <p:nvPr/>
        </p:nvSpPr>
        <p:spPr>
          <a:xfrm>
            <a:off x="6086356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Science: Pandas, NumPy, Scikit-learn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1ACEFE5-69B2-775E-D99F-C99D50C4E8EB}"/>
              </a:ext>
            </a:extLst>
          </p:cNvPr>
          <p:cNvSpPr/>
          <p:nvPr/>
        </p:nvSpPr>
        <p:spPr>
          <a:xfrm>
            <a:off x="6086356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for data. Manipulation, computation, ML modeling.</a:t>
            </a:r>
            <a:endParaRPr lang="en-US" sz="17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537285B8-9378-2A06-02FA-A244A53930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776657"/>
            <a:ext cx="566976" cy="566976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2534BBCE-E01F-947F-4CA1-4405851FC710}"/>
              </a:ext>
            </a:extLst>
          </p:cNvPr>
          <p:cNvSpPr/>
          <p:nvPr/>
        </p:nvSpPr>
        <p:spPr>
          <a:xfrm>
            <a:off x="10528459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Framework: Streamlit</a:t>
            </a:r>
            <a:endParaRPr lang="en-US" sz="23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B449743-78E9-B145-86A2-5FB072BE976D}"/>
              </a:ext>
            </a:extLst>
          </p:cNvPr>
          <p:cNvSpPr/>
          <p:nvPr/>
        </p:nvSpPr>
        <p:spPr>
          <a:xfrm>
            <a:off x="10528459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UI. Quick prototyping &amp; app deployment.</a:t>
            </a:r>
            <a:endParaRPr lang="en-US" sz="175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834EEBD4-DF72-243B-2F2B-7A7A266161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970978"/>
            <a:ext cx="566976" cy="566976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EB22760B-173E-4B5A-36B1-A091B259CFB1}"/>
              </a:ext>
            </a:extLst>
          </p:cNvPr>
          <p:cNvSpPr/>
          <p:nvPr/>
        </p:nvSpPr>
        <p:spPr>
          <a:xfrm>
            <a:off x="1644253" y="5105638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Model: Random Forest / XGBoost</a:t>
            </a:r>
            <a:endParaRPr lang="en-US" sz="23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692A926-8598-C891-200D-AAE1D6C12BE0}"/>
              </a:ext>
            </a:extLst>
          </p:cNvPr>
          <p:cNvSpPr/>
          <p:nvPr/>
        </p:nvSpPr>
        <p:spPr>
          <a:xfrm>
            <a:off x="1644253" y="5985867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predictions. Efficient, reliable diagnostic AI.</a:t>
            </a:r>
            <a:endParaRPr lang="en-US" sz="1750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02867E27-AF5C-4A44-E22F-B0E795B344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4970978"/>
            <a:ext cx="566976" cy="566976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4D345DC0-B38A-4FFB-D0C0-64F2858AAE38}"/>
              </a:ext>
            </a:extLst>
          </p:cNvPr>
          <p:cNvSpPr/>
          <p:nvPr/>
        </p:nvSpPr>
        <p:spPr>
          <a:xfrm>
            <a:off x="6086356" y="5105638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Visualization: Plotly / Matplotlib</a:t>
            </a:r>
            <a:endParaRPr lang="en-US" sz="23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3494CCDF-0658-4D4D-B9EE-609171C6EA4E}"/>
              </a:ext>
            </a:extLst>
          </p:cNvPr>
          <p:cNvSpPr/>
          <p:nvPr/>
        </p:nvSpPr>
        <p:spPr>
          <a:xfrm>
            <a:off x="6086356" y="5985867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insights. Dynamic data visualization for medical clarity.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2B06C5-5C10-F461-680C-DF0D4D3C7F37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190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3972">
        <p159:morph option="byObject"/>
      </p:transition>
    </mc:Choice>
    <mc:Fallback xmlns="">
      <p:transition spd="slow" advTm="33972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784" y="588288"/>
            <a:ext cx="5238274" cy="45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Core Predictive Model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48784" y="1100138"/>
            <a:ext cx="3234452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 the AI Brain for Impact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48784" y="1582579"/>
            <a:ext cx="4284821" cy="1064895"/>
          </a:xfrm>
          <a:prstGeom prst="roundRect">
            <a:avLst>
              <a:gd name="adj" fmla="val 6869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44" y="1582579"/>
            <a:ext cx="60960" cy="1064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8809" y="1736884"/>
            <a:ext cx="2026920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Robust Data Foundation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48809" y="2048351"/>
            <a:ext cx="3930491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on a comprehensive, public dataset for accurate disease onset prediction.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72670" y="1582579"/>
            <a:ext cx="4284940" cy="1064895"/>
          </a:xfrm>
          <a:prstGeom prst="roundRect">
            <a:avLst>
              <a:gd name="adj" fmla="val 6869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430" y="1582579"/>
            <a:ext cx="60960" cy="10648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72695" y="1736884"/>
            <a:ext cx="2066330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Intelligent Model Choice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72695" y="2048351"/>
            <a:ext cx="3930610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Classifier selected for high performance and crucial interpretability.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9596676" y="1582579"/>
            <a:ext cx="4284940" cy="1064895"/>
          </a:xfrm>
          <a:prstGeom prst="roundRect">
            <a:avLst>
              <a:gd name="adj" fmla="val 6869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436" y="1582579"/>
            <a:ext cx="60960" cy="10648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796701" y="1736884"/>
            <a:ext cx="1825228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Proven Accuracy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9796701" y="2048351"/>
            <a:ext cx="3930610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Achieved </a:t>
            </a:r>
            <a:r>
              <a:rPr lang="en-US" sz="1050" dirty="0">
                <a:solidFill>
                  <a:srgbClr val="0064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92% accuracy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effectively identifying critical disease patterns.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748784" y="2803922"/>
            <a:ext cx="13132832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performance translates directly to earlier detection and better patient outcomes.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84" y="3182779"/>
            <a:ext cx="8536305" cy="476059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2CCE405-44CB-9158-A286-18755D97058A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9799">
        <p159:morph option="byObject"/>
      </p:transition>
    </mc:Choice>
    <mc:Fallback xmlns="">
      <p:transition spd="slow" advTm="39799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62F01-8FCE-88C6-E1E0-FA0ABA8F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EE964E-8552-72EC-B0B6-2E2891F35DB0}"/>
              </a:ext>
            </a:extLst>
          </p:cNvPr>
          <p:cNvSpPr/>
          <p:nvPr/>
        </p:nvSpPr>
        <p:spPr>
          <a:xfrm>
            <a:off x="793790" y="660559"/>
            <a:ext cx="6304121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Feature: Explainable AI (XAI)</a:t>
            </a:r>
            <a:endParaRPr lang="en-US" sz="3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EB4A20-3A4C-D753-D1E2-8A7ED83E37A3}"/>
              </a:ext>
            </a:extLst>
          </p:cNvPr>
          <p:cNvSpPr/>
          <p:nvPr/>
        </p:nvSpPr>
        <p:spPr>
          <a:xfrm>
            <a:off x="793790" y="1245037"/>
            <a:ext cx="48173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"Black Box" to Transparent Assistant</a:t>
            </a:r>
            <a:endParaRPr lang="en-US" sz="19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311E050-5CB9-B44A-C748-DE09E6EA1383}"/>
              </a:ext>
            </a:extLst>
          </p:cNvPr>
          <p:cNvSpPr/>
          <p:nvPr/>
        </p:nvSpPr>
        <p:spPr>
          <a:xfrm>
            <a:off x="793790" y="1795701"/>
            <a:ext cx="4241721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051D9A-9A4A-B757-8D8B-2894EDD4F701}"/>
              </a:ext>
            </a:extLst>
          </p:cNvPr>
          <p:cNvSpPr/>
          <p:nvPr/>
        </p:nvSpPr>
        <p:spPr>
          <a:xfrm>
            <a:off x="975360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Problem: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8F48D8-94A9-E516-1DEF-CA2536B2A1E1}"/>
              </a:ext>
            </a:extLst>
          </p:cNvPr>
          <p:cNvSpPr/>
          <p:nvPr/>
        </p:nvSpPr>
        <p:spPr>
          <a:xfrm>
            <a:off x="975360" y="2332911"/>
            <a:ext cx="387858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AI's 'black box' problem: Predictions are useless if doctors don't understand the 'why'.</a:t>
            </a:r>
            <a:endParaRPr lang="en-US" sz="12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8A3B373-B850-74AF-8247-46C3706E4E80}"/>
              </a:ext>
            </a:extLst>
          </p:cNvPr>
          <p:cNvSpPr/>
          <p:nvPr/>
        </p:nvSpPr>
        <p:spPr>
          <a:xfrm>
            <a:off x="5194221" y="1795701"/>
            <a:ext cx="4241840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F44444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6E973E-3442-DA4F-EAC7-5EAA215BEE29}"/>
              </a:ext>
            </a:extLst>
          </p:cNvPr>
          <p:cNvSpPr/>
          <p:nvPr/>
        </p:nvSpPr>
        <p:spPr>
          <a:xfrm>
            <a:off x="5375791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Solution: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951CADF-9527-B239-176A-10CF13BA0E60}"/>
              </a:ext>
            </a:extLst>
          </p:cNvPr>
          <p:cNvSpPr/>
          <p:nvPr/>
        </p:nvSpPr>
        <p:spPr>
          <a:xfrm>
            <a:off x="5375791" y="2332911"/>
            <a:ext cx="387869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XAI provides a 'treasure map,' highlighting key factors (e.g., Glucose, BMI) behind each prediction.</a:t>
            </a:r>
            <a:endParaRPr lang="en-US" sz="12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2955B0A-CB37-AE4A-9215-AF9CB0263694}"/>
              </a:ext>
            </a:extLst>
          </p:cNvPr>
          <p:cNvSpPr/>
          <p:nvPr/>
        </p:nvSpPr>
        <p:spPr>
          <a:xfrm>
            <a:off x="9594771" y="1795701"/>
            <a:ext cx="4241721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126332A-B168-03A7-C6E9-21AB0DFBA34B}"/>
              </a:ext>
            </a:extLst>
          </p:cNvPr>
          <p:cNvSpPr/>
          <p:nvPr/>
        </p:nvSpPr>
        <p:spPr>
          <a:xfrm>
            <a:off x="9776341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Benefit: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88C569-97C8-98C9-B57E-97F8903227A6}"/>
              </a:ext>
            </a:extLst>
          </p:cNvPr>
          <p:cNvSpPr/>
          <p:nvPr/>
        </p:nvSpPr>
        <p:spPr>
          <a:xfrm>
            <a:off x="9776341" y="2332911"/>
            <a:ext cx="387858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trust, enables clinical verification, and empowers doctors to explain results confidently.</a:t>
            </a:r>
            <a:endParaRPr lang="en-US" sz="125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D27C6E62-E81E-546C-D5F1-1B5811FA1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844" y="9719264"/>
            <a:ext cx="7926824" cy="4367689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50CCFDB5-3F14-A7A1-1D28-0EE3C6412879}"/>
              </a:ext>
            </a:extLst>
          </p:cNvPr>
          <p:cNvSpPr/>
          <p:nvPr/>
        </p:nvSpPr>
        <p:spPr>
          <a:xfrm>
            <a:off x="-6466365" y="2571452"/>
            <a:ext cx="1497306" cy="539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Predicted Diagnosis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5ED7858-0F08-2A53-48D4-755DC0575036}"/>
              </a:ext>
            </a:extLst>
          </p:cNvPr>
          <p:cNvSpPr/>
          <p:nvPr/>
        </p:nvSpPr>
        <p:spPr>
          <a:xfrm>
            <a:off x="-6466365" y="3183726"/>
            <a:ext cx="1497306" cy="41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Predicted: Type 2 Diabetes</a:t>
            </a:r>
            <a:endParaRPr lang="en-US" sz="10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CF4165D-C5EF-2BEC-7205-B2A86A8CF1FF}"/>
              </a:ext>
            </a:extLst>
          </p:cNvPr>
          <p:cNvSpPr/>
          <p:nvPr/>
        </p:nvSpPr>
        <p:spPr>
          <a:xfrm>
            <a:off x="18137861" y="6112873"/>
            <a:ext cx="1497306" cy="539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Importance</a:t>
            </a:r>
            <a:endParaRPr lang="en-US" sz="1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DF8480E-3E00-AB7B-69C8-36F0A099DDC7}"/>
              </a:ext>
            </a:extLst>
          </p:cNvPr>
          <p:cNvSpPr/>
          <p:nvPr/>
        </p:nvSpPr>
        <p:spPr>
          <a:xfrm>
            <a:off x="18137861" y="6725149"/>
            <a:ext cx="1497306" cy="41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Glucose, BMI, Age, Family History</a:t>
            </a:r>
            <a:endParaRPr lang="en-US" sz="10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C6A10B-2AA0-75B3-C49E-CF132ACDEDA3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273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1760">
        <p159:morph option="byObject"/>
      </p:transition>
    </mc:Choice>
    <mc:Fallback xmlns="">
      <p:transition spd="slow" advTm="1176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0559"/>
            <a:ext cx="6304121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Feature: Explainable AI (XAI)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93790" y="1245037"/>
            <a:ext cx="48173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"Black Box" to Transparent Assistant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1795701"/>
            <a:ext cx="4241721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5360" y="2332911"/>
            <a:ext cx="387858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AI's 'black box' problem: Predictions are useless if doctors don't understand the 'why'.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94221" y="1795701"/>
            <a:ext cx="4241840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F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5791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Solution: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75791" y="2332911"/>
            <a:ext cx="387869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XAI provides a 'treasure map,' highlighting key factors (e.g., Glucose, BMI) behind each prediction.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594771" y="1795701"/>
            <a:ext cx="4241721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76341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Benefit: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76341" y="2332911"/>
            <a:ext cx="387858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trust, enables clinical verification, and empowers doctors to explain results confidently.</a:t>
            </a:r>
            <a:endParaRPr lang="en-US" sz="12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728" y="3201233"/>
            <a:ext cx="7926824" cy="436768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545143" y="3810596"/>
            <a:ext cx="1497306" cy="539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Predicted Diagnosis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45143" y="4422870"/>
            <a:ext cx="1497306" cy="41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Predicted: Type 2 Diabetes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580015" y="5088783"/>
            <a:ext cx="1497306" cy="539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Importance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580015" y="5701059"/>
            <a:ext cx="1497306" cy="41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Glucose, BMI, Age, Family History</a:t>
            </a:r>
            <a:endParaRPr lang="en-US" sz="10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473767-A899-C4CF-3636-9C551C89C475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8677">
        <p159:morph option="byObject"/>
      </p:transition>
    </mc:Choice>
    <mc:Fallback xmlns="">
      <p:transition spd="slow" advTm="38677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6738"/>
            <a:ext cx="841355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Vision: Accelerated Health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647610" y="3881675"/>
            <a:ext cx="4196358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-25420796" y="4788932"/>
            <a:ext cx="300335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Immediate Next Steps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-25420796" y="529709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diverse datasets for broader disease insight.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-25420796" y="610219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lab report analysis via OCR.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224438" y="3541395"/>
            <a:ext cx="4196358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-20997624" y="444865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Long-Term Vision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-20997624" y="495681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Multi-modal AI: Combine lab data + medical imaging.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-20997624" y="576191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EHR integration for rapid deployment.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801267" y="3201233"/>
            <a:ext cx="4196358" cy="1143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-16574452" y="4108490"/>
            <a:ext cx="31533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Transformative Impact</a:t>
            </a:r>
            <a:endParaRPr lang="en-US" sz="2300" dirty="0"/>
          </a:p>
        </p:txBody>
      </p:sp>
      <p:sp>
        <p:nvSpPr>
          <p:cNvPr id="13" name="Text 8"/>
          <p:cNvSpPr/>
          <p:nvPr/>
        </p:nvSpPr>
        <p:spPr>
          <a:xfrm>
            <a:off x="-16574452" y="461664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 diagnostic errors.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-16574452" y="542174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Drastically improve patient outcomes.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-16574452" y="622685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healthcare efficiency and savings.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14189C-B0E4-2D67-8EFF-C43BEF873A66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6176">
        <p159:morph option="byObject"/>
      </p:transition>
    </mc:Choice>
    <mc:Fallback xmlns="">
      <p:transition spd="slow" advTm="6176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7343E-C58A-F812-0C62-83016CEFE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EAFFFA-9EBC-3C06-2BC0-5E75117EBDAB}"/>
              </a:ext>
            </a:extLst>
          </p:cNvPr>
          <p:cNvSpPr/>
          <p:nvPr/>
        </p:nvSpPr>
        <p:spPr>
          <a:xfrm>
            <a:off x="793790" y="1526738"/>
            <a:ext cx="841355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Vision: Accelerated Health</a:t>
            </a:r>
            <a:endParaRPr lang="en-US" sz="46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9B1C800-FE6F-9814-EEAC-6C1F26C08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05068"/>
            <a:ext cx="4196358" cy="1143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3E15B94-6920-D3F8-BF88-187FE150DC3B}"/>
              </a:ext>
            </a:extLst>
          </p:cNvPr>
          <p:cNvSpPr/>
          <p:nvPr/>
        </p:nvSpPr>
        <p:spPr>
          <a:xfrm>
            <a:off x="1020604" y="4312325"/>
            <a:ext cx="300335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Immediate Next Steps</a:t>
            </a:r>
            <a:endParaRPr lang="en-US" sz="2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9FFA9E3-4A6E-48A0-658D-6A5EEB16977D}"/>
              </a:ext>
            </a:extLst>
          </p:cNvPr>
          <p:cNvSpPr/>
          <p:nvPr/>
        </p:nvSpPr>
        <p:spPr>
          <a:xfrm>
            <a:off x="1020604" y="482048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diverse datasets for broader disease insight.</a:t>
            </a:r>
            <a:endParaRPr lang="en-US" sz="1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F0CFF3A-275C-A2BC-92B8-9C8B19397CA5}"/>
              </a:ext>
            </a:extLst>
          </p:cNvPr>
          <p:cNvSpPr/>
          <p:nvPr/>
        </p:nvSpPr>
        <p:spPr>
          <a:xfrm>
            <a:off x="1020604" y="562558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lab report analysis via OCR.</a:t>
            </a:r>
            <a:endParaRPr lang="en-US" sz="17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EE19FBCE-27D6-E86F-4854-0E4726C60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65444" y="3434834"/>
            <a:ext cx="4196358" cy="11430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113D231A-4F1C-A23D-5AE5-AC7B6FA14D4B}"/>
              </a:ext>
            </a:extLst>
          </p:cNvPr>
          <p:cNvSpPr/>
          <p:nvPr/>
        </p:nvSpPr>
        <p:spPr>
          <a:xfrm>
            <a:off x="-9638630" y="43420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Long-Term Vision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E072127-CA1D-4901-8E08-F453EA4285EB}"/>
              </a:ext>
            </a:extLst>
          </p:cNvPr>
          <p:cNvSpPr/>
          <p:nvPr/>
        </p:nvSpPr>
        <p:spPr>
          <a:xfrm>
            <a:off x="-9638630" y="485024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Multi-modal AI: Combine lab data + medical imaging.</a:t>
            </a:r>
            <a:endParaRPr lang="en-US" sz="17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390FE49-918E-7A00-77B4-EF47E113A0FA}"/>
              </a:ext>
            </a:extLst>
          </p:cNvPr>
          <p:cNvSpPr/>
          <p:nvPr/>
        </p:nvSpPr>
        <p:spPr>
          <a:xfrm>
            <a:off x="-9638630" y="565534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EHR integration for rapid deployment.</a:t>
            </a:r>
            <a:endParaRPr lang="en-US" sz="17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5FE80A4A-AABE-B4A4-C4DA-89A610BAD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78065" y="2992635"/>
            <a:ext cx="4196358" cy="1143000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E046B669-9542-A66F-F11E-A033245A56F1}"/>
              </a:ext>
            </a:extLst>
          </p:cNvPr>
          <p:cNvSpPr/>
          <p:nvPr/>
        </p:nvSpPr>
        <p:spPr>
          <a:xfrm>
            <a:off x="-4551250" y="3899892"/>
            <a:ext cx="31533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Transformative Impact</a:t>
            </a:r>
            <a:endParaRPr lang="en-US" sz="23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2789FF9-8D6E-EDBF-C0DA-1B8B502FF8F7}"/>
              </a:ext>
            </a:extLst>
          </p:cNvPr>
          <p:cNvSpPr/>
          <p:nvPr/>
        </p:nvSpPr>
        <p:spPr>
          <a:xfrm>
            <a:off x="-4551250" y="440805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 diagnostic errors.</a:t>
            </a:r>
            <a:endParaRPr lang="en-US" sz="17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E075D6F-98AE-9081-BF32-2924B58EB17C}"/>
              </a:ext>
            </a:extLst>
          </p:cNvPr>
          <p:cNvSpPr/>
          <p:nvPr/>
        </p:nvSpPr>
        <p:spPr>
          <a:xfrm>
            <a:off x="-4551250" y="521315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Drastically improve patient outcomes.</a:t>
            </a:r>
            <a:endParaRPr lang="en-US" sz="17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F8AC993-6326-7DB4-F306-00A769414BE5}"/>
              </a:ext>
            </a:extLst>
          </p:cNvPr>
          <p:cNvSpPr/>
          <p:nvPr/>
        </p:nvSpPr>
        <p:spPr>
          <a:xfrm>
            <a:off x="-4551250" y="601825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healthcare efficiency and savings.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DD5178-7F67-74D2-3D0A-25C60B206C4F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576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8">
        <p159:morph option="byObject"/>
      </p:transition>
    </mc:Choice>
    <mc:Fallback xmlns="">
      <p:transition spd="slow" advTm="1878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C48CB-1763-A3A5-2979-2CCC7879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B5CAF0-CD07-4B7E-DAD0-581BF7454D71}"/>
              </a:ext>
            </a:extLst>
          </p:cNvPr>
          <p:cNvSpPr/>
          <p:nvPr/>
        </p:nvSpPr>
        <p:spPr>
          <a:xfrm>
            <a:off x="793790" y="1526738"/>
            <a:ext cx="841355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Vision: Accelerated Health</a:t>
            </a:r>
            <a:endParaRPr lang="en-US" sz="465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345DCB3-E58A-E024-219A-79A711F14CA0}"/>
              </a:ext>
            </a:extLst>
          </p:cNvPr>
          <p:cNvGrpSpPr/>
          <p:nvPr/>
        </p:nvGrpSpPr>
        <p:grpSpPr>
          <a:xfrm>
            <a:off x="793790" y="3405068"/>
            <a:ext cx="4196358" cy="2946321"/>
            <a:chOff x="793790" y="3405068"/>
            <a:chExt cx="4196358" cy="2946321"/>
          </a:xfrm>
        </p:grpSpPr>
        <p:pic>
          <p:nvPicPr>
            <p:cNvPr id="3" name="Image 0" descr="preencoded.png">
              <a:extLst>
                <a:ext uri="{FF2B5EF4-FFF2-40B4-BE49-F238E27FC236}">
                  <a16:creationId xmlns:a16="http://schemas.microsoft.com/office/drawing/2014/main" id="{59CFB2D0-34BE-8434-8D06-25F456D46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790" y="3405068"/>
              <a:ext cx="4196358" cy="1143000"/>
            </a:xfrm>
            <a:prstGeom prst="rect">
              <a:avLst/>
            </a:prstGeom>
          </p:spPr>
        </p:pic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3E96B6DA-40E0-A719-5660-F0425777A738}"/>
                </a:ext>
              </a:extLst>
            </p:cNvPr>
            <p:cNvSpPr/>
            <p:nvPr/>
          </p:nvSpPr>
          <p:spPr>
            <a:xfrm>
              <a:off x="1020604" y="4312325"/>
              <a:ext cx="3003352" cy="3720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300" b="1" dirty="0">
                  <a:solidFill>
                    <a:srgbClr val="E0D6DE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Immediate Next Steps</a:t>
              </a:r>
              <a:endParaRPr lang="en-US" sz="2300" dirty="0"/>
            </a:p>
          </p:txBody>
        </p:sp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4E27FEFB-314C-2CA1-0C52-289E6A94566F}"/>
                </a:ext>
              </a:extLst>
            </p:cNvPr>
            <p:cNvSpPr/>
            <p:nvPr/>
          </p:nvSpPr>
          <p:spPr>
            <a:xfrm>
              <a:off x="1020604" y="4820483"/>
              <a:ext cx="374273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rgbClr val="E0D6D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Integrate diverse datasets for broader disease insight.</a:t>
              </a:r>
              <a:endParaRPr lang="en-US" sz="1750" dirty="0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24F95FDD-9FA5-7A89-3AAF-408420D48FA9}"/>
                </a:ext>
              </a:extLst>
            </p:cNvPr>
            <p:cNvSpPr/>
            <p:nvPr/>
          </p:nvSpPr>
          <p:spPr>
            <a:xfrm>
              <a:off x="1020604" y="5625584"/>
              <a:ext cx="374273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rgbClr val="E0D6D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Automate lab report analysis via OCR.</a:t>
              </a:r>
              <a:endParaRPr lang="en-US" sz="1750" dirty="0"/>
            </a:p>
          </p:txBody>
        </p:sp>
      </p:grp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507288CE-4B19-E05F-4E0F-8FDFFAFD0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833568"/>
            <a:ext cx="4196358" cy="11430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E340318B-67C0-3619-9D5B-A6B62ADA1FA8}"/>
              </a:ext>
            </a:extLst>
          </p:cNvPr>
          <p:cNvSpPr/>
          <p:nvPr/>
        </p:nvSpPr>
        <p:spPr>
          <a:xfrm>
            <a:off x="5443776" y="374082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Long-Term Vision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673A75D-7B51-2B4F-8B21-98549937EB79}"/>
              </a:ext>
            </a:extLst>
          </p:cNvPr>
          <p:cNvSpPr/>
          <p:nvPr/>
        </p:nvSpPr>
        <p:spPr>
          <a:xfrm>
            <a:off x="5443776" y="424898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Multi-modal AI: Combine lab data + medical imaging.</a:t>
            </a:r>
            <a:endParaRPr lang="en-US" sz="17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01E3D4D-D3E1-B0B2-EC91-D0DF40C34A5D}"/>
              </a:ext>
            </a:extLst>
          </p:cNvPr>
          <p:cNvSpPr/>
          <p:nvPr/>
        </p:nvSpPr>
        <p:spPr>
          <a:xfrm>
            <a:off x="5443776" y="505408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EHR integration for rapid deployment.</a:t>
            </a:r>
            <a:endParaRPr lang="en-US" sz="17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EE5BCA3A-6CD9-3473-5600-E024BAFA6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78065" y="2992635"/>
            <a:ext cx="4196358" cy="1143000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A1D38E3E-1AF1-BC68-B58F-4921212A4CA6}"/>
              </a:ext>
            </a:extLst>
          </p:cNvPr>
          <p:cNvSpPr/>
          <p:nvPr/>
        </p:nvSpPr>
        <p:spPr>
          <a:xfrm>
            <a:off x="-4551250" y="3899892"/>
            <a:ext cx="31533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Transformative Impact</a:t>
            </a:r>
            <a:endParaRPr lang="en-US" sz="23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4221AD8-C14F-CF98-7CDD-60B86CA43DE4}"/>
              </a:ext>
            </a:extLst>
          </p:cNvPr>
          <p:cNvSpPr/>
          <p:nvPr/>
        </p:nvSpPr>
        <p:spPr>
          <a:xfrm>
            <a:off x="-4551250" y="440805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 diagnostic errors.</a:t>
            </a:r>
            <a:endParaRPr lang="en-US" sz="17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48A75DA-49BB-8932-0336-627D397C4DC8}"/>
              </a:ext>
            </a:extLst>
          </p:cNvPr>
          <p:cNvSpPr/>
          <p:nvPr/>
        </p:nvSpPr>
        <p:spPr>
          <a:xfrm>
            <a:off x="-4551250" y="521315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Drastically improve patient outcomes.</a:t>
            </a:r>
            <a:endParaRPr lang="en-US" sz="17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90FE370-65A7-EFEF-9668-D27311A02917}"/>
              </a:ext>
            </a:extLst>
          </p:cNvPr>
          <p:cNvSpPr/>
          <p:nvPr/>
        </p:nvSpPr>
        <p:spPr>
          <a:xfrm>
            <a:off x="-4551250" y="601825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healthcare efficiency and savings.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8D5EDD-34CB-E721-3B91-A90CA40EE0A2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21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642">
        <p159:morph option="byObject"/>
      </p:transition>
    </mc:Choice>
    <mc:Fallback xmlns="">
      <p:transition spd="slow" advTm="642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C0111-E2BE-EF93-0824-E3A1BE80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93A993-9CA7-1915-8F24-21626524C46F}"/>
              </a:ext>
            </a:extLst>
          </p:cNvPr>
          <p:cNvSpPr/>
          <p:nvPr/>
        </p:nvSpPr>
        <p:spPr>
          <a:xfrm>
            <a:off x="377101" y="782478"/>
            <a:ext cx="841355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Vision: Accelerated Health</a:t>
            </a:r>
            <a:endParaRPr lang="en-US" sz="46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1CD47D7-DA5A-375B-3451-78543984E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05068"/>
            <a:ext cx="4196358" cy="1143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4F00C8A-D9E8-ED38-8AD9-80987D71A2C7}"/>
              </a:ext>
            </a:extLst>
          </p:cNvPr>
          <p:cNvSpPr/>
          <p:nvPr/>
        </p:nvSpPr>
        <p:spPr>
          <a:xfrm>
            <a:off x="1020604" y="4312325"/>
            <a:ext cx="300335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Immediate Next Steps</a:t>
            </a:r>
            <a:endParaRPr lang="en-US" sz="2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DE93FF5-2CA9-CF2A-01AE-47C8953C5C66}"/>
              </a:ext>
            </a:extLst>
          </p:cNvPr>
          <p:cNvSpPr/>
          <p:nvPr/>
        </p:nvSpPr>
        <p:spPr>
          <a:xfrm>
            <a:off x="1020604" y="482048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diverse datasets for broader disease insight.</a:t>
            </a:r>
            <a:endParaRPr lang="en-US" sz="1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EF5542D-2E26-4DC2-0ABB-6C3A4114366E}"/>
              </a:ext>
            </a:extLst>
          </p:cNvPr>
          <p:cNvSpPr/>
          <p:nvPr/>
        </p:nvSpPr>
        <p:spPr>
          <a:xfrm>
            <a:off x="1020604" y="562558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lab report analysis via OCR.</a:t>
            </a:r>
            <a:endParaRPr lang="en-US" sz="17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1782315-9B45-1800-42B8-247D17F12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064788"/>
            <a:ext cx="4196358" cy="11430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E0C4A64D-9D5E-4B0C-8763-9EAFB9713F69}"/>
              </a:ext>
            </a:extLst>
          </p:cNvPr>
          <p:cNvSpPr/>
          <p:nvPr/>
        </p:nvSpPr>
        <p:spPr>
          <a:xfrm>
            <a:off x="5443776" y="39720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Long-Term Vision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1AF1FE3-37CA-9D72-2417-45801FAFEE2C}"/>
              </a:ext>
            </a:extLst>
          </p:cNvPr>
          <p:cNvSpPr/>
          <p:nvPr/>
        </p:nvSpPr>
        <p:spPr>
          <a:xfrm>
            <a:off x="5443776" y="448020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Multi-modal AI: Combine lab data + medical imaging.</a:t>
            </a:r>
            <a:endParaRPr lang="en-US" sz="17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46CFFE8-5289-A058-C7F4-82C85F307CD6}"/>
              </a:ext>
            </a:extLst>
          </p:cNvPr>
          <p:cNvSpPr/>
          <p:nvPr/>
        </p:nvSpPr>
        <p:spPr>
          <a:xfrm>
            <a:off x="5443776" y="528530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EHR integration for rapid deployment.</a:t>
            </a:r>
            <a:endParaRPr lang="en-US" sz="17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4FDEABA0-3F72-FE6D-C370-EE2A3C377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4" y="2493288"/>
            <a:ext cx="4196358" cy="1143000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AD8E86FA-B1BE-8508-C0FE-2C9DC0B20013}"/>
              </a:ext>
            </a:extLst>
          </p:cNvPr>
          <p:cNvSpPr/>
          <p:nvPr/>
        </p:nvSpPr>
        <p:spPr>
          <a:xfrm>
            <a:off x="9866949" y="3400545"/>
            <a:ext cx="31533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Transformative Impact</a:t>
            </a:r>
            <a:endParaRPr lang="en-US" sz="23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A4169BB-1FE1-A648-680C-BFC3E3814D42}"/>
              </a:ext>
            </a:extLst>
          </p:cNvPr>
          <p:cNvSpPr/>
          <p:nvPr/>
        </p:nvSpPr>
        <p:spPr>
          <a:xfrm>
            <a:off x="9866949" y="390870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 diagnostic errors.</a:t>
            </a:r>
            <a:endParaRPr lang="en-US" sz="17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952A1BDE-DDCB-2D85-D507-BA87F24BED07}"/>
              </a:ext>
            </a:extLst>
          </p:cNvPr>
          <p:cNvSpPr/>
          <p:nvPr/>
        </p:nvSpPr>
        <p:spPr>
          <a:xfrm>
            <a:off x="9866949" y="471380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Drastically improve patient outcomes.</a:t>
            </a:r>
            <a:endParaRPr lang="en-US" sz="17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F932EDAB-0CB4-FC45-E07A-6E0F903F09E3}"/>
              </a:ext>
            </a:extLst>
          </p:cNvPr>
          <p:cNvSpPr/>
          <p:nvPr/>
        </p:nvSpPr>
        <p:spPr>
          <a:xfrm>
            <a:off x="9866949" y="551890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healthcare efficiency and savings.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A9CE5D-A1A9-FEB2-4C49-B426C0365CFB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829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254">
        <p159:morph option="byObject"/>
      </p:transition>
    </mc:Choice>
    <mc:Fallback xmlns="">
      <p:transition spd="slow" advTm="254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3834201"/>
            <a:ext cx="13042821" cy="1304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6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 </a:t>
            </a:r>
            <a:endParaRPr lang="en-US" sz="6000" dirty="0"/>
          </a:p>
        </p:txBody>
      </p:sp>
    </p:spTree>
  </p:cSld>
  <p:clrMapOvr>
    <a:masterClrMapping/>
  </p:clrMapOvr>
  <p:transition spd="slow" advTm="1249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1476</Words>
  <Application>Microsoft Office PowerPoint</Application>
  <PresentationFormat>Custom</PresentationFormat>
  <Paragraphs>247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Inter</vt:lpstr>
      <vt:lpstr>Arial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Aswin 0605</dc:creator>
  <cp:lastModifiedBy>Aswin 0605</cp:lastModifiedBy>
  <cp:revision>6</cp:revision>
  <dcterms:created xsi:type="dcterms:W3CDTF">2025-11-03T15:11:20Z</dcterms:created>
  <dcterms:modified xsi:type="dcterms:W3CDTF">2025-11-04T03:45:24Z</dcterms:modified>
</cp:coreProperties>
</file>