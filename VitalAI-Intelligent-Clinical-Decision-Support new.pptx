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05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3711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9.svg"/><Relationship Id="rId10" Type="http://schemas.openxmlformats.org/officeDocument/2006/relationships/image" Target="../media/image20.png"/><Relationship Id="rId4" Type="http://schemas.openxmlformats.org/officeDocument/2006/relationships/image" Target="../media/image8.png"/><Relationship Id="rId9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2591633"/>
            <a:ext cx="1238083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Vital.AI: Intelligent Clinical Decision Support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793790" y="367605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Vital.AI transforms complex patient data into rapid, actionable diagnostic insights, empowering medical professionals to make faster, more accurate clinical decisions.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65701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Team: [Team name]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27506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Event: HealthTech Hackathon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6162"/>
            <a:ext cx="8759666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Problem: The Diagnostic Bottleneck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394103"/>
            <a:ext cx="4597479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High Cost of Manual Diagnosis</a:t>
            </a:r>
            <a:endParaRPr lang="en-US" sz="2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23242"/>
            <a:ext cx="90726" cy="907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5967" y="2023467"/>
            <a:ext cx="392418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review of patient data is slow and error-prone.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2123242"/>
            <a:ext cx="90726" cy="907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9138" y="2023467"/>
            <a:ext cx="392418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in 10 diagnoses are incorrect, impacting patient care.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2123242"/>
            <a:ext cx="90726" cy="9072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912310" y="2023467"/>
            <a:ext cx="392418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diagnosis is deadly, especially for time-sensitive conditions like cancer.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119" y="2808089"/>
            <a:ext cx="10434161" cy="469534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669846" y="3071450"/>
            <a:ext cx="1825969" cy="67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PaperworkManual forms and patient files pile up</a:t>
            </a:r>
            <a:endParaRPr lang="en-US" sz="10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85623" y="4282283"/>
            <a:ext cx="404447" cy="40444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475749" y="6592961"/>
            <a:ext cx="1836002" cy="67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ReportsSlow results and fragmented data</a:t>
            </a:r>
            <a:endParaRPr lang="en-US" sz="10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1527" y="5757104"/>
            <a:ext cx="404447" cy="40444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261587" y="3036335"/>
            <a:ext cx="1825969" cy="67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 ReviewTime-consuming manual interpretation</a:t>
            </a:r>
            <a:endParaRPr lang="en-US" sz="10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07463" y="4242152"/>
            <a:ext cx="404448" cy="404447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067491" y="6705831"/>
            <a:ext cx="1825969" cy="45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OutcomeDelayed or incorrect diagnosis</a:t>
            </a:r>
            <a:endParaRPr lang="en-US" sz="105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83268" y="5757104"/>
            <a:ext cx="404447" cy="40444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2944261-DAA9-1426-11D5-D6765DD84C9B}"/>
              </a:ext>
            </a:extLst>
          </p:cNvPr>
          <p:cNvSpPr/>
          <p:nvPr/>
        </p:nvSpPr>
        <p:spPr>
          <a:xfrm>
            <a:off x="12728864" y="7616536"/>
            <a:ext cx="1901536" cy="580549"/>
          </a:xfrm>
          <a:prstGeom prst="rect">
            <a:avLst/>
          </a:prstGeom>
          <a:solidFill>
            <a:srgbClr val="1B059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4960"/>
            <a:ext cx="5888712" cy="483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Our Solution: AI Clinical Co-Pilot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93790" y="1177647"/>
            <a:ext cx="4193024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Augmenting Expertise, Not Replacing It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93790" y="1688902"/>
            <a:ext cx="4249341" cy="1126927"/>
          </a:xfrm>
          <a:prstGeom prst="roundRect">
            <a:avLst>
              <a:gd name="adj" fmla="val 5495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6429" y="1851541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it is: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56429" y="2181701"/>
            <a:ext cx="392406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AI-driven analysis of patient data (lab results, biometrics) for rapid diagnostic insights.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90530" y="1688902"/>
            <a:ext cx="4249341" cy="1126927"/>
          </a:xfrm>
          <a:prstGeom prst="roundRect">
            <a:avLst>
              <a:gd name="adj" fmla="val 5495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53169" y="1851541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Who it's for: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53169" y="2181701"/>
            <a:ext cx="392406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Clinicians seeking powerful, data-driven decision support.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587270" y="1688902"/>
            <a:ext cx="4249341" cy="1126927"/>
          </a:xfrm>
          <a:prstGeom prst="roundRect">
            <a:avLst>
              <a:gd name="adj" fmla="val 5495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49909" y="1851541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Value: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749909" y="2181701"/>
            <a:ext cx="392406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Streamlines workflow, boosts accuracy, and provides critical 'second opinion' support.</a:t>
            </a:r>
            <a:endParaRPr lang="en-US" sz="11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779" y="2981682"/>
            <a:ext cx="5978843" cy="461283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86190" y="5017085"/>
            <a:ext cx="1042738" cy="50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Clinical Co‑Pilot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811973" y="6447670"/>
            <a:ext cx="1551258" cy="250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Symptoms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811973" y="6765843"/>
            <a:ext cx="1551258" cy="381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Reported clinical signs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3552" y="4796537"/>
            <a:ext cx="1585168" cy="500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Diagnostic insight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3552" y="5365061"/>
            <a:ext cx="1585168" cy="38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clinician guidance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226323" y="6447670"/>
            <a:ext cx="1551257" cy="250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226323" y="6765843"/>
            <a:ext cx="1551257" cy="381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Aggregates and analyzes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456266" y="4913235"/>
            <a:ext cx="1585167" cy="250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Patient file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456266" y="5231408"/>
            <a:ext cx="1585167" cy="381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 history &amp; notes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80999" y="3419069"/>
            <a:ext cx="1593646" cy="250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Lab results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480999" y="3737241"/>
            <a:ext cx="1593646" cy="190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test data</a:t>
            </a:r>
            <a:endParaRPr lang="en-US" sz="10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E834BB-678E-CB52-DA23-4E4876E870BA}"/>
              </a:ext>
            </a:extLst>
          </p:cNvPr>
          <p:cNvSpPr/>
          <p:nvPr/>
        </p:nvSpPr>
        <p:spPr>
          <a:xfrm>
            <a:off x="12728864" y="7616536"/>
            <a:ext cx="1901536" cy="580549"/>
          </a:xfrm>
          <a:prstGeom prst="rect">
            <a:avLst/>
          </a:prstGeom>
          <a:solidFill>
            <a:srgbClr val="1B059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8300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Vital.AI's Core Engine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356241"/>
            <a:ext cx="3406497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Our AI System Works</a:t>
            </a:r>
            <a:endParaRPr lang="en-US" sz="2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220" y="1985605"/>
            <a:ext cx="8061841" cy="55556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86155" y="5442556"/>
            <a:ext cx="2203071" cy="30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486155" y="5834163"/>
            <a:ext cx="2203071" cy="46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Intuitive interface for data input.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27021" y="4027263"/>
            <a:ext cx="521707" cy="5217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3486" y="2541865"/>
            <a:ext cx="2274643" cy="30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363486" y="2933472"/>
            <a:ext cx="2274643" cy="46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data, logic &amp; AI model communication.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76104" y="4345341"/>
            <a:ext cx="521707" cy="5217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90457" y="6125829"/>
            <a:ext cx="2203071" cy="30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Processing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890457" y="6517436"/>
            <a:ext cx="2203071" cy="46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Cleans, validates &amp; prepares data for AI.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25351" y="4663420"/>
            <a:ext cx="521707" cy="52170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846042" y="3156012"/>
            <a:ext cx="2203071" cy="30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Inference Engine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8846042" y="3547619"/>
            <a:ext cx="2203071" cy="46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accurate diagnostic predictions.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80569" y="5004975"/>
            <a:ext cx="521707" cy="52170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C33C5E3-68BD-36F0-B451-DEE8C529BB32}"/>
              </a:ext>
            </a:extLst>
          </p:cNvPr>
          <p:cNvSpPr/>
          <p:nvPr/>
        </p:nvSpPr>
        <p:spPr>
          <a:xfrm>
            <a:off x="12728864" y="7616536"/>
            <a:ext cx="1901536" cy="580549"/>
          </a:xfrm>
          <a:prstGeom prst="rect">
            <a:avLst/>
          </a:prstGeom>
          <a:solidFill>
            <a:srgbClr val="1B059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4906"/>
            <a:ext cx="1003101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Vital.AI's Engine: Powering Precision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1989892"/>
            <a:ext cx="4361259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Built for Accuracy &amp; Speed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776657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291131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Language: Python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644253" y="341947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for AI. Robust data science &amp; ML ecosystem.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2776657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86356" y="2911316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Science: Pandas, NumPy, Scikit-learn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6086356" y="379154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for data. Manipulation, computation, ML modeling.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2776657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28459" y="2911316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Web Framework: Streamlit</a:t>
            </a:r>
            <a:endParaRPr lang="en-US" sz="2300" dirty="0"/>
          </a:p>
        </p:txBody>
      </p:sp>
      <p:sp>
        <p:nvSpPr>
          <p:cNvPr id="12" name="Text 7"/>
          <p:cNvSpPr/>
          <p:nvPr/>
        </p:nvSpPr>
        <p:spPr>
          <a:xfrm>
            <a:off x="10528459" y="379154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UI. Quick prototyping &amp; app deployment.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4970978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44253" y="5105638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Model: Random Forest / XGBoost</a:t>
            </a:r>
            <a:endParaRPr lang="en-US" sz="2300" dirty="0"/>
          </a:p>
        </p:txBody>
      </p:sp>
      <p:sp>
        <p:nvSpPr>
          <p:cNvPr id="15" name="Text 9"/>
          <p:cNvSpPr/>
          <p:nvPr/>
        </p:nvSpPr>
        <p:spPr>
          <a:xfrm>
            <a:off x="1644253" y="5985867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predictions. Efficient, reliable diagnostic AI.</a:t>
            </a:r>
            <a:endParaRPr lang="en-US" sz="1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4970978"/>
            <a:ext cx="566976" cy="5669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086356" y="5105638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Visualization: Plotly / Matplotlib</a:t>
            </a:r>
            <a:endParaRPr lang="en-US" sz="2300" dirty="0"/>
          </a:p>
        </p:txBody>
      </p:sp>
      <p:sp>
        <p:nvSpPr>
          <p:cNvPr id="18" name="Text 11"/>
          <p:cNvSpPr/>
          <p:nvPr/>
        </p:nvSpPr>
        <p:spPr>
          <a:xfrm>
            <a:off x="6086356" y="5985867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insights. Dynamic data visualization for medical clarity.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7F002B-153D-C8F2-6894-9318041AB8BB}"/>
              </a:ext>
            </a:extLst>
          </p:cNvPr>
          <p:cNvSpPr/>
          <p:nvPr/>
        </p:nvSpPr>
        <p:spPr>
          <a:xfrm>
            <a:off x="12728864" y="7616536"/>
            <a:ext cx="1901536" cy="580549"/>
          </a:xfrm>
          <a:prstGeom prst="rect">
            <a:avLst/>
          </a:prstGeom>
          <a:solidFill>
            <a:srgbClr val="1B059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784" y="588288"/>
            <a:ext cx="5238274" cy="45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Core: Our Predictive Model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48784" y="1100138"/>
            <a:ext cx="3234452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Training the AI Brain for Impact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48784" y="1582579"/>
            <a:ext cx="4284821" cy="1064895"/>
          </a:xfrm>
          <a:prstGeom prst="roundRect">
            <a:avLst>
              <a:gd name="adj" fmla="val 6869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44" y="1582579"/>
            <a:ext cx="60960" cy="10648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8809" y="1736884"/>
            <a:ext cx="2026920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Robust Data Foundation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48809" y="2048351"/>
            <a:ext cx="3930491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on a comprehensive, public dataset for accurate disease onset prediction.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72670" y="1582579"/>
            <a:ext cx="4284940" cy="1064895"/>
          </a:xfrm>
          <a:prstGeom prst="roundRect">
            <a:avLst>
              <a:gd name="adj" fmla="val 6869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430" y="1582579"/>
            <a:ext cx="60960" cy="10648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72695" y="1736884"/>
            <a:ext cx="2066330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Intelligent Model Choice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372695" y="2048351"/>
            <a:ext cx="3930610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Classifier selected for high performance and crucial interpretability.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9596676" y="1582579"/>
            <a:ext cx="4284940" cy="1064895"/>
          </a:xfrm>
          <a:prstGeom prst="roundRect">
            <a:avLst>
              <a:gd name="adj" fmla="val 6869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1436" y="1582579"/>
            <a:ext cx="60960" cy="106489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796701" y="1736884"/>
            <a:ext cx="1825228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Proven Accuracy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9796701" y="2048351"/>
            <a:ext cx="3930610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Achieved </a:t>
            </a:r>
            <a:r>
              <a:rPr lang="en-US" sz="1050" dirty="0">
                <a:solidFill>
                  <a:srgbClr val="0064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92% accuracy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effectively identifying critical disease patterns.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748784" y="2803922"/>
            <a:ext cx="13132832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performance translates directly to earlier detection and better patient outcomes.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784" y="3182779"/>
            <a:ext cx="8536305" cy="476059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085C1AC-72B0-C572-15E1-3F10A534EF25}"/>
              </a:ext>
            </a:extLst>
          </p:cNvPr>
          <p:cNvSpPr/>
          <p:nvPr/>
        </p:nvSpPr>
        <p:spPr>
          <a:xfrm>
            <a:off x="12728864" y="7616536"/>
            <a:ext cx="1901536" cy="580549"/>
          </a:xfrm>
          <a:prstGeom prst="rect">
            <a:avLst/>
          </a:prstGeom>
          <a:solidFill>
            <a:srgbClr val="1B059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0559"/>
            <a:ext cx="6304121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Feature: Explainable AI (XAI)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93790" y="1245037"/>
            <a:ext cx="48173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From "Black Box" to Transparent Assistant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1795701"/>
            <a:ext cx="4241721" cy="1226939"/>
          </a:xfrm>
          <a:prstGeom prst="roundRect">
            <a:avLst>
              <a:gd name="adj" fmla="val 5435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5360" y="1977271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75360" y="2332911"/>
            <a:ext cx="3878580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AI's 'black box' problem: Predictions are useless if doctors don't understand the 'why'.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194221" y="1795701"/>
            <a:ext cx="4241840" cy="1226939"/>
          </a:xfrm>
          <a:prstGeom prst="roundRect">
            <a:avLst>
              <a:gd name="adj" fmla="val 5435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F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75791" y="1977271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Our Solution: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75791" y="2332911"/>
            <a:ext cx="3878699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XAI provides a 'treasure map,' highlighting key factors (e.g., Glucose, BMI) behind each prediction.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594771" y="1795701"/>
            <a:ext cx="4241721" cy="1226939"/>
          </a:xfrm>
          <a:prstGeom prst="roundRect">
            <a:avLst>
              <a:gd name="adj" fmla="val 5435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76341" y="1977271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Benefit: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76341" y="2332911"/>
            <a:ext cx="3878580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trust, enables clinical verification, and empowers doctors to explain results confidently.</a:t>
            </a:r>
            <a:endParaRPr lang="en-US" sz="12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728" y="3201233"/>
            <a:ext cx="7926824" cy="436768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545143" y="3810596"/>
            <a:ext cx="1497306" cy="539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Predicted Diagnosis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545143" y="4422870"/>
            <a:ext cx="1497306" cy="410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Predicted: Type 2 Diabetes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580015" y="5088783"/>
            <a:ext cx="1497306" cy="539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Importance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580015" y="5701059"/>
            <a:ext cx="1497306" cy="410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Glucose, BMI, Age, Family History</a:t>
            </a:r>
            <a:endParaRPr lang="en-US" sz="10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273577-F65D-1127-E030-6031AEA09BC1}"/>
              </a:ext>
            </a:extLst>
          </p:cNvPr>
          <p:cNvSpPr/>
          <p:nvPr/>
        </p:nvSpPr>
        <p:spPr>
          <a:xfrm>
            <a:off x="12728864" y="7616536"/>
            <a:ext cx="1901536" cy="580549"/>
          </a:xfrm>
          <a:prstGeom prst="rect">
            <a:avLst/>
          </a:prstGeom>
          <a:solidFill>
            <a:srgbClr val="1B059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932" y="621387"/>
            <a:ext cx="5042416" cy="630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Live Demo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90932" y="1328380"/>
            <a:ext cx="3025378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 in Action</a:t>
            </a:r>
            <a:endParaRPr lang="en-US" sz="2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32" y="2210753"/>
            <a:ext cx="7644289" cy="43681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60568" y="2167533"/>
            <a:ext cx="358652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90932" y="7011114"/>
            <a:ext cx="13048536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Witness Vital.AI in action: transforming complex lab data into real-time, actionable insights. Explore the intuitive interface and powerful diagnostic visualizations here: </a:t>
            </a:r>
            <a:r>
              <a:rPr lang="en-US" sz="1500" u="sng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Vital.AI Live Demo</a:t>
            </a:r>
            <a:endParaRPr lang="en-US" sz="15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1E6F05-0DE5-4660-32CA-B2102E94529C}"/>
              </a:ext>
            </a:extLst>
          </p:cNvPr>
          <p:cNvSpPr/>
          <p:nvPr/>
        </p:nvSpPr>
        <p:spPr>
          <a:xfrm>
            <a:off x="12728864" y="7616536"/>
            <a:ext cx="1901536" cy="580549"/>
          </a:xfrm>
          <a:prstGeom prst="rect">
            <a:avLst/>
          </a:prstGeom>
          <a:solidFill>
            <a:srgbClr val="1B059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6738"/>
            <a:ext cx="841355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Our Vision: Accelerated Health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05068"/>
            <a:ext cx="4196358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312325"/>
            <a:ext cx="300335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Immediate Next Steps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020604" y="482048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diverse datasets for broader disease insight.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20604" y="5625584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lab report analysis via OCR.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3064788"/>
            <a:ext cx="4196358" cy="1143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43776" y="397204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Long-Term Vision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5443776" y="448020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Multi-modal AI: Combine lab data + medical imaging.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5443776" y="528530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EHR integration for rapid deployment.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2724626"/>
            <a:ext cx="4196358" cy="1143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866948" y="3631883"/>
            <a:ext cx="315337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Transformative Impact</a:t>
            </a:r>
            <a:endParaRPr lang="en-US" sz="2300" dirty="0"/>
          </a:p>
        </p:txBody>
      </p:sp>
      <p:sp>
        <p:nvSpPr>
          <p:cNvPr id="13" name="Text 8"/>
          <p:cNvSpPr/>
          <p:nvPr/>
        </p:nvSpPr>
        <p:spPr>
          <a:xfrm>
            <a:off x="9866948" y="4140041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Significantly reduce diagnostic errors.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9866948" y="494514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Drastically improve patient outcomes.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9866948" y="575024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 healthcare efficiency and savings.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C47613-E782-A2A0-676D-7964641A439E}"/>
              </a:ext>
            </a:extLst>
          </p:cNvPr>
          <p:cNvSpPr/>
          <p:nvPr/>
        </p:nvSpPr>
        <p:spPr>
          <a:xfrm>
            <a:off x="12728864" y="7616536"/>
            <a:ext cx="1901536" cy="580549"/>
          </a:xfrm>
          <a:prstGeom prst="rect">
            <a:avLst/>
          </a:prstGeom>
          <a:solidFill>
            <a:srgbClr val="1B059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42351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 &amp; Q&amp;A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793790" y="2507933"/>
            <a:ext cx="13042821" cy="2977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0"/>
              </a:lnSpc>
              <a:buNone/>
            </a:pPr>
            <a:r>
              <a:rPr lang="en-US" sz="9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Ready to Innovate Healthcare?</a:t>
            </a:r>
            <a:endParaRPr lang="en-US" sz="9350" dirty="0"/>
          </a:p>
        </p:txBody>
      </p:sp>
      <p:sp>
        <p:nvSpPr>
          <p:cNvPr id="6" name="Text 3"/>
          <p:cNvSpPr/>
          <p:nvPr/>
        </p:nvSpPr>
        <p:spPr>
          <a:xfrm>
            <a:off x="793790" y="58251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believe our solution can make a real difference. We're excited to partner and discuss next steps!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4431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 Let's connect!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643</Words>
  <Application>Microsoft Office PowerPoint</Application>
  <PresentationFormat>Custom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Petrona 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Aswin 0605</dc:creator>
  <cp:lastModifiedBy>Aswin 0605</cp:lastModifiedBy>
  <cp:revision>2</cp:revision>
  <dcterms:created xsi:type="dcterms:W3CDTF">2025-11-03T17:39:12Z</dcterms:created>
  <dcterms:modified xsi:type="dcterms:W3CDTF">2025-11-03T19:16:17Z</dcterms:modified>
</cp:coreProperties>
</file>